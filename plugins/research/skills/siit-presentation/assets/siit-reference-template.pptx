
<file path=[Content_Types].xml><?xml version="1.0" encoding="utf-8"?>
<ns0:Types xmlns:ns0="http://schemas.openxmlformats.org/package/2006/content-types">
  <ns0:Default ContentType="application/xml" Extension="xml"/>
  <ns0:Default ContentType="image/png" Extension="png"/>
  <ns0:Default ContentType="application/vnd.openxmlformats-officedocument.obfuscatedFont" Extension="odttf"/>
  <ns0:Default ContentType="application/vnd.openxmlformats-package.relationships+xml" Extension="rels"/>
  <ns0:Override ContentType="application/vnd.openxmlformats-officedocument.presentationml.slideLayout+xml" PartName="/ppt/slideLayouts/slideLayout3.xml"/>
  <ns0:Override ContentType="application/vnd.openxmlformats-officedocument.presentationml.slideLayout+xml" PartName="/ppt/slideLayouts/slideLayout2.xml"/>
  <ns0:Override ContentType="application/vnd.openxmlformats-officedocument.presentationml.slideLayout+xml" PartName="/ppt/slideLayouts/slideLayout1.xml"/>
  <ns0:Override ContentType="application/vnd.openxmlformats-officedocument.presentationml.slideMaster+xml" PartName="/ppt/slideMasters/slideMaster1.xml"/>
  <ns0:Override ContentType="application/vnd.openxmlformats-officedocument.presentationml.slide+xml" PartName="/ppt/slides/slide18.xml"/>
  <ns0:Override ContentType="application/vnd.openxmlformats-officedocument.presentationml.slide+xml" PartName="/ppt/slides/slide1.xml"/>
  <ns0:Override ContentType="application/vnd.openxmlformats-officedocument.presentationml.slide+xml" PartName="/ppt/slides/slide19.xml"/>
  <ns0:Override ContentType="application/vnd.openxmlformats-officedocument.presentationml.slide+xml" PartName="/ppt/slides/slide3.xml"/>
  <ns0:Override ContentType="application/vnd.openxmlformats-officedocument.presentationml.slide+xml" PartName="/ppt/slides/slide13.xml"/>
  <ns0:Override ContentType="application/vnd.openxmlformats-officedocument.presentationml.slide+xml" PartName="/ppt/slides/slide5.xml"/>
  <ns0:Override ContentType="application/vnd.openxmlformats-officedocument.presentationml.slide+xml" PartName="/ppt/slides/slide2.xml"/>
  <ns0:Override ContentType="application/vnd.openxmlformats-officedocument.presentationml.presentation.main+xml" PartName="/ppt/presentation.xml"/>
  <ns0:Override ContentType="application/vnd.openxmlformats-officedocument.presentationml.presProps+xml" PartName="/ppt/presProps.xml"/>
  <ns0:Override ContentType="application/vnd.openxmlformats-officedocument.theme+xml" PartName="/ppt/theme/theme1.xml"/>
  <ns0:Override ContentType="application/vnd.openxmlformats-officedocument.theme+xml" PartName="/ppt/theme/theme2.xml"/>
  <ns0:Override ContentType="application/vnd.openxmlformats-officedocument.presentationml.viewProps+xml" PartName="/ppt/viewProps.xml"/>
</ns0: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autoCompressPictures="0" strictFirstAndLastChars="0" saveSubsetFonts="1">
  <p:sldMasterIdLst>
    <p:sldMasterId id="2147483651" r:id="rId4"/>
  </p:sldMasterIdLst>
  <p:notesMasterIdLst>
    <p:notesMasterId r:id="rId5"/>
  </p:notesMasterIdLst>
  <p:sldIdLst>
    <p:sldId id="256" r:id="rId6"/>
    <p:sldId id="257" r:id="rId7"/>
    <p:sldId id="258" r:id="rId8"/>
    <p:sldId id="260" r:id="rId10"/>
    <p:sldId id="268" r:id="rId18"/>
    <p:sldId id="273" r:id="rId23"/>
    <p:sldId id="274" r:id="rId2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9pPr>
  </p:defaultTextStyle>
  <p:extLst>
    <p:ext uri="{EFAFB233-063F-42B5-8137-9DF3F51BA10A}">
      <ns3:sldGuideLst>
        <ns3:guide id="1" orient="horz" pos="2160">
          <ns3:clr>
            <a:srgbClr val="000000"/>
          </ns3:clr>
        </ns3:guide>
        <ns3:guide id="2" pos="2880">
          <ns3:clr>
            <a:srgbClr val="000000"/>
          </ns3:clr>
        </ns3:guide>
      </ns3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?>
<ns0:Relationships xmlns:ns0="http://schemas.openxmlformats.org/package/2006/relationships"><ns0:Relationship Id="rId24" Type="http://schemas.openxmlformats.org/officeDocument/2006/relationships/slide" Target="slides/slide19.xml" /><ns0:Relationship Id="rId23" Type="http://schemas.openxmlformats.org/officeDocument/2006/relationships/slide" Target="slides/slide18.xml" /><ns0:Relationship Id="rId1" Type="http://schemas.openxmlformats.org/officeDocument/2006/relationships/theme" Target="theme/theme1.xml" /><ns0:Relationship Id="rId2" Type="http://schemas.openxmlformats.org/officeDocument/2006/relationships/viewProps" Target="viewProps.xml" /><ns0:Relationship Id="rId3" Type="http://schemas.openxmlformats.org/officeDocument/2006/relationships/presProps" Target="presProps.xml" /><ns0:Relationship Id="rId4" Type="http://schemas.openxmlformats.org/officeDocument/2006/relationships/slideMaster" Target="slideMasters/slideMaster1.xml" /><ns0:Relationship Id="rId6" Type="http://schemas.openxmlformats.org/officeDocument/2006/relationships/slide" Target="slides/slide1.xml" /><ns0:Relationship Id="rId7" Type="http://schemas.openxmlformats.org/officeDocument/2006/relationships/slide" Target="slides/slide2.xml" /><ns0:Relationship Id="rId8" Type="http://schemas.openxmlformats.org/officeDocument/2006/relationships/slide" Target="slides/slide3.xml" /><ns0:Relationship Id="rId10" Type="http://schemas.openxmlformats.org/officeDocument/2006/relationships/slide" Target="slides/slide5.xml" /><ns0:Relationship Id="rId18" Type="http://schemas.openxmlformats.org/officeDocument/2006/relationships/slide" Target="slides/slide13.xml" /></ns0:Relationship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matchingName="제목 슬라이드">
  <p:cSld name="제목 슬라이드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914400" y="1263419"/>
            <a:ext cx="10363200" cy="22465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KR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4199738"/>
            <a:ext cx="9144000" cy="13948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4724400" y="635635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1" y="1191419"/>
            <a:ext cx="12192000" cy="72000"/>
          </a:xfrm>
          <a:prstGeom prst="rect">
            <a:avLst/>
          </a:prstGeom>
          <a:gradFill>
            <a:gsLst>
              <a:gs pos="0">
                <a:srgbClr val="60C2F1"/>
              </a:gs>
              <a:gs pos="25000">
                <a:srgbClr val="60C2F1"/>
              </a:gs>
              <a:gs pos="75000">
                <a:srgbClr val="004191"/>
              </a:gs>
              <a:gs pos="100000">
                <a:srgbClr val="00419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" name="Google Shape;16;p2"/>
          <p:cNvSpPr/>
          <p:nvPr/>
        </p:nvSpPr>
        <p:spPr>
          <a:xfrm>
            <a:off x="1" y="5594581"/>
            <a:ext cx="12192000" cy="72000"/>
          </a:xfrm>
          <a:prstGeom prst="rect">
            <a:avLst/>
          </a:prstGeom>
          <a:gradFill>
            <a:gsLst>
              <a:gs pos="0">
                <a:srgbClr val="0E6EB8"/>
              </a:gs>
              <a:gs pos="70000">
                <a:srgbClr val="0E6EB8"/>
              </a:gs>
              <a:gs pos="80000">
                <a:srgbClr val="8EC31F"/>
              </a:gs>
              <a:gs pos="95000">
                <a:srgbClr val="0E6EB8"/>
              </a:gs>
              <a:gs pos="100000">
                <a:srgbClr val="0E6EB8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" name="Google Shape;17;p2"/>
          <p:cNvSpPr txBox="1"/>
          <p:nvPr>
            <p:ph idx="10" type="dt"/>
          </p:nvPr>
        </p:nvSpPr>
        <p:spPr>
          <a:xfrm>
            <a:off x="307545" y="635635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8" name="Google Shape;18;p2"/>
          <p:cNvGrpSpPr/>
          <p:nvPr/>
        </p:nvGrpSpPr>
        <p:grpSpPr>
          <a:xfrm>
            <a:off x="9867786" y="6355246"/>
            <a:ext cx="2016663" cy="360000"/>
            <a:chOff x="7079711" y="6326805"/>
            <a:chExt cx="2016664" cy="360000"/>
          </a:xfrm>
        </p:grpSpPr>
        <p:pic>
          <p:nvPicPr>
            <p:cNvPr id="19" name="Google Shape;19;p2"/>
            <p:cNvPicPr preferRelativeResize="0"/>
            <p:nvPr/>
          </p:nvPicPr>
          <p:blipFill rotWithShape="1">
            <a:blip r:embed="rId2">
              <a:alphaModFix/>
            </a:blip>
            <a:srcRect b="45767" l="0" r="0" t="0"/>
            <a:stretch/>
          </p:blipFill>
          <p:spPr>
            <a:xfrm>
              <a:off x="7079711" y="6326805"/>
              <a:ext cx="1248555" cy="36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https://storage.googleapis.com/cr-resource/image/6f073d94b2aef12873b30123b0221d6c/siitkaist/b7ebaa9a1ac2dfdbe061ec56b7f50ba1.png" id="20" name="Google Shape;20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377124" y="6326805"/>
              <a:ext cx="719251" cy="360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" name="Google Shape;21;p2"/>
          <p:cNvGrpSpPr/>
          <p:nvPr/>
        </p:nvGrpSpPr>
        <p:grpSpPr>
          <a:xfrm>
            <a:off x="9867787" y="6355246"/>
            <a:ext cx="2016663" cy="360000"/>
            <a:chOff x="7079711" y="6326805"/>
            <a:chExt cx="2016664" cy="360000"/>
          </a:xfrm>
        </p:grpSpPr>
        <p:pic>
          <p:nvPicPr>
            <p:cNvPr id="22" name="Google Shape;22;p2"/>
            <p:cNvPicPr preferRelativeResize="0"/>
            <p:nvPr/>
          </p:nvPicPr>
          <p:blipFill rotWithShape="1">
            <a:blip r:embed="rId2">
              <a:alphaModFix/>
            </a:blip>
            <a:srcRect b="45767" l="0" r="0" t="0"/>
            <a:stretch/>
          </p:blipFill>
          <p:spPr>
            <a:xfrm>
              <a:off x="7079711" y="6326805"/>
              <a:ext cx="1248555" cy="36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https://storage.googleapis.com/cr-resource/image/6f073d94b2aef12873b30123b0221d6c/siitkaist/b7ebaa9a1ac2dfdbe061ec56b7f50ba1.png" id="23" name="Google Shape;23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377124" y="6326805"/>
              <a:ext cx="719251" cy="360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matchingName="제목만">
  <p:cSld name="제목만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4724400" y="635635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0" y="1179513"/>
            <a:ext cx="12192000" cy="90000"/>
          </a:xfrm>
          <a:prstGeom prst="rect">
            <a:avLst/>
          </a:prstGeom>
          <a:gradFill>
            <a:gsLst>
              <a:gs pos="0">
                <a:srgbClr val="0E6EB8"/>
              </a:gs>
              <a:gs pos="70000">
                <a:srgbClr val="0E6EB8"/>
              </a:gs>
              <a:gs pos="80000">
                <a:srgbClr val="8EC31F"/>
              </a:gs>
              <a:gs pos="95000">
                <a:srgbClr val="0E6EB8"/>
              </a:gs>
              <a:gs pos="100000">
                <a:srgbClr val="0E6EB8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7" name="Google Shape;27;p3"/>
          <p:cNvSpPr txBox="1"/>
          <p:nvPr>
            <p:ph idx="10" type="dt"/>
          </p:nvPr>
        </p:nvSpPr>
        <p:spPr>
          <a:xfrm>
            <a:off x="307545" y="635635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type="title"/>
          </p:nvPr>
        </p:nvSpPr>
        <p:spPr>
          <a:xfrm>
            <a:off x="307548" y="136524"/>
            <a:ext cx="11576909" cy="9673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KR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9" name="Google Shape;29;p3"/>
          <p:cNvGrpSpPr/>
          <p:nvPr/>
        </p:nvGrpSpPr>
        <p:grpSpPr>
          <a:xfrm>
            <a:off x="9867786" y="6355246"/>
            <a:ext cx="2016663" cy="360000"/>
            <a:chOff x="7079711" y="6326805"/>
            <a:chExt cx="2016664" cy="360000"/>
          </a:xfrm>
        </p:grpSpPr>
        <p:pic>
          <p:nvPicPr>
            <p:cNvPr id="30" name="Google Shape;30;p3"/>
            <p:cNvPicPr preferRelativeResize="0"/>
            <p:nvPr/>
          </p:nvPicPr>
          <p:blipFill rotWithShape="1">
            <a:blip r:embed="rId2">
              <a:alphaModFix/>
            </a:blip>
            <a:srcRect b="45767" l="0" r="0" t="0"/>
            <a:stretch/>
          </p:blipFill>
          <p:spPr>
            <a:xfrm>
              <a:off x="7079711" y="6326805"/>
              <a:ext cx="1248555" cy="36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https://storage.googleapis.com/cr-resource/image/6f073d94b2aef12873b30123b0221d6c/siitkaist/b7ebaa9a1ac2dfdbe061ec56b7f50ba1.png" id="31" name="Google Shape;31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377124" y="6326805"/>
              <a:ext cx="719251" cy="360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" name="Google Shape;32;p3"/>
          <p:cNvGrpSpPr/>
          <p:nvPr/>
        </p:nvGrpSpPr>
        <p:grpSpPr>
          <a:xfrm>
            <a:off x="9867787" y="6355246"/>
            <a:ext cx="2016663" cy="360000"/>
            <a:chOff x="7079711" y="6326805"/>
            <a:chExt cx="2016664" cy="360000"/>
          </a:xfrm>
        </p:grpSpPr>
        <p:pic>
          <p:nvPicPr>
            <p:cNvPr id="33" name="Google Shape;33;p3"/>
            <p:cNvPicPr preferRelativeResize="0"/>
            <p:nvPr/>
          </p:nvPicPr>
          <p:blipFill rotWithShape="1">
            <a:blip r:embed="rId2">
              <a:alphaModFix/>
            </a:blip>
            <a:srcRect b="45767" l="0" r="0" t="0"/>
            <a:stretch/>
          </p:blipFill>
          <p:spPr>
            <a:xfrm>
              <a:off x="7079711" y="6326805"/>
              <a:ext cx="1248555" cy="36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https://storage.googleapis.com/cr-resource/image/6f073d94b2aef12873b30123b0221d6c/siitkaist/b7ebaa9a1ac2dfdbe061ec56b7f50ba1.png" id="34" name="Google Shape;34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377124" y="6326805"/>
              <a:ext cx="719251" cy="360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matchingName="제목 및 내용">
  <p:cSld name="제목 및 내용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 txBox="1"/>
          <p:nvPr>
            <p:ph type="title"/>
          </p:nvPr>
        </p:nvSpPr>
        <p:spPr>
          <a:xfrm>
            <a:off x="307548" y="136524"/>
            <a:ext cx="11576909" cy="9673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KR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" type="body"/>
          </p:nvPr>
        </p:nvSpPr>
        <p:spPr>
          <a:xfrm>
            <a:off x="307548" y="1345160"/>
            <a:ext cx="11576909" cy="48318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55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4"/>
          <p:cNvSpPr txBox="1"/>
          <p:nvPr>
            <p:ph idx="10" type="dt"/>
          </p:nvPr>
        </p:nvSpPr>
        <p:spPr>
          <a:xfrm>
            <a:off x="307545" y="635635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2" type="sldNum"/>
          </p:nvPr>
        </p:nvSpPr>
        <p:spPr>
          <a:xfrm>
            <a:off x="4724400" y="635635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0" y="1179513"/>
            <a:ext cx="12192000" cy="90000"/>
          </a:xfrm>
          <a:prstGeom prst="rect">
            <a:avLst/>
          </a:prstGeom>
          <a:gradFill>
            <a:gsLst>
              <a:gs pos="0">
                <a:srgbClr val="0E6EB8"/>
              </a:gs>
              <a:gs pos="70000">
                <a:srgbClr val="0E6EB8"/>
              </a:gs>
              <a:gs pos="80000">
                <a:srgbClr val="8EC31F"/>
              </a:gs>
              <a:gs pos="95000">
                <a:srgbClr val="0E6EB8"/>
              </a:gs>
              <a:gs pos="100000">
                <a:srgbClr val="0E6EB8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41" name="Google Shape;41;p4"/>
          <p:cNvGrpSpPr/>
          <p:nvPr/>
        </p:nvGrpSpPr>
        <p:grpSpPr>
          <a:xfrm>
            <a:off x="9867786" y="6355246"/>
            <a:ext cx="2016663" cy="360000"/>
            <a:chOff x="7079711" y="6326805"/>
            <a:chExt cx="2016664" cy="360000"/>
          </a:xfrm>
        </p:grpSpPr>
        <p:pic>
          <p:nvPicPr>
            <p:cNvPr id="42" name="Google Shape;42;p4"/>
            <p:cNvPicPr preferRelativeResize="0"/>
            <p:nvPr/>
          </p:nvPicPr>
          <p:blipFill rotWithShape="1">
            <a:blip r:embed="rId2">
              <a:alphaModFix/>
            </a:blip>
            <a:srcRect b="45767" l="0" r="0" t="0"/>
            <a:stretch/>
          </p:blipFill>
          <p:spPr>
            <a:xfrm>
              <a:off x="7079711" y="6326805"/>
              <a:ext cx="1248555" cy="36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https://storage.googleapis.com/cr-resource/image/6f073d94b2aef12873b30123b0221d6c/siitkaist/b7ebaa9a1ac2dfdbe061ec56b7f50ba1.png" id="43" name="Google Shape;43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377124" y="6326805"/>
              <a:ext cx="719251" cy="360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4" name="Google Shape;44;p4"/>
          <p:cNvGrpSpPr/>
          <p:nvPr/>
        </p:nvGrpSpPr>
        <p:grpSpPr>
          <a:xfrm>
            <a:off x="9867787" y="6355246"/>
            <a:ext cx="2016663" cy="360000"/>
            <a:chOff x="7079711" y="6326805"/>
            <a:chExt cx="2016664" cy="360000"/>
          </a:xfrm>
        </p:grpSpPr>
        <p:pic>
          <p:nvPicPr>
            <p:cNvPr id="45" name="Google Shape;45;p4"/>
            <p:cNvPicPr preferRelativeResize="0"/>
            <p:nvPr/>
          </p:nvPicPr>
          <p:blipFill rotWithShape="1">
            <a:blip r:embed="rId2">
              <a:alphaModFix/>
            </a:blip>
            <a:srcRect b="45767" l="0" r="0" t="0"/>
            <a:stretch/>
          </p:blipFill>
          <p:spPr>
            <a:xfrm>
              <a:off x="7079711" y="6326805"/>
              <a:ext cx="1248555" cy="36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https://storage.googleapis.com/cr-resource/image/6f073d94b2aef12873b30123b0221d6c/siitkaist/b7ebaa9a1ac2dfdbe061ec56b7f50ba1.png" id="46" name="Google Shape;46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377124" y="6326805"/>
              <a:ext cx="719251" cy="360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Noto Sans KR"/>
              <a:buNone/>
              <a:defRPr b="0" i="0" sz="33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KR"/>
              <a:buChar char="•"/>
              <a:defRPr b="0" i="0" sz="21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KR"/>
              <a:buChar char="•"/>
              <a:defRPr b="0" i="0" sz="1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Char char="•"/>
              <a:defRPr b="0" i="0" sz="15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KR"/>
              <a:buChar char="•"/>
              <a:defRPr b="0" i="0" sz="135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KR"/>
              <a:buChar char="•"/>
              <a:defRPr b="0" i="0" sz="135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KR"/>
              <a:buChar char="•"/>
              <a:defRPr b="0" i="0" sz="135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KR"/>
              <a:buChar char="•"/>
              <a:defRPr b="0" i="0" sz="135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KR"/>
              <a:buChar char="•"/>
              <a:defRPr b="0" i="0" sz="135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KR"/>
              <a:buChar char="•"/>
              <a:defRPr b="0" i="0" sz="135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51" name="Element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Element 2"/>
          <p:cNvSpPr txBox="1"/>
          <p:nvPr>
            <p:ph type="ctrTitle"/>
          </p:nvPr>
        </p:nvSpPr>
        <p:spPr>
          <a:xfrm>
            <a:off x="914400" y="1263419"/>
            <a:ext cx="10363200" cy="22465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Noto Sans KR"/>
              <a:buNone/>
            </a:pPr>
            <a:r>
              <a:rPr b="1" lang="en-US" sz="36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Research Presentation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Noto Sans KR"/>
              <a:buNone/>
            </a:pPr>
            <a:r>
              <a:rPr b="1" lang="en-US" sz="36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Method · Evidence · Interpretation</a:t>
            </a:r>
            <a:endParaRPr/>
          </a:p>
        </p:txBody>
      </p:sp>
      <p:sp>
        <p:nvSpPr>
          <p:cNvPr id="53" name="Element 3"/>
          <p:cNvSpPr txBox="1"/>
          <p:nvPr>
            <p:ph idx="1" type="subTitle"/>
          </p:nvPr>
        </p:nvSpPr>
        <p:spPr>
          <a:xfrm>
            <a:off x="1524000" y="3928350"/>
            <a:ext cx="9144000" cy="16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191"/>
              </a:buClr>
              <a:buSzPts val="1800"/>
              <a:buNone/>
            </a:pPr>
            <a:r>
              <a:rPr b="1" lang="en-US" sz="1800">
                <a:solidFill>
                  <a:srgbClr val="004191"/>
                </a:solidFill>
                <a:latin typeface="Noto Sans KR"/>
                <a:ea typeface="Noto Sans KR"/>
                <a:cs typeface="Noto Sans KR"/>
                <a:sym typeface="Noto Sans KR"/>
              </a:rPr>
              <a:t>SIIT style reference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550"/>
              </a:spcBef>
              <a:spcAft>
                <a:spcPts val="0"/>
              </a:spcAft>
              <a:buClr>
                <a:srgbClr val="2D3741"/>
              </a:buClr>
              <a:buSzPts val="1300"/>
              <a:buNone/>
            </a:pPr>
            <a:r>
              <a:rPr b="0" lang="en-US" sz="1300">
                <a:solidFill>
                  <a:srgbClr val="2D3741"/>
                </a:solidFill>
                <a:latin typeface="Noto Sans KR"/>
                <a:ea typeface="Noto Sans KR"/>
                <a:cs typeface="Noto Sans KR"/>
                <a:sym typeface="Noto Sans KR"/>
              </a:rPr>
              <a:t>Editable 16:9 template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150"/>
              </a:spcBef>
              <a:spcAft>
                <a:spcPts val="0"/>
              </a:spcAft>
              <a:buClr>
                <a:srgbClr val="2D3741"/>
              </a:buClr>
              <a:buSzPts val="1300"/>
              <a:buNone/>
            </a:pPr>
            <a:r>
              <a:rPr b="0" lang="en-US" sz="1300">
                <a:solidFill>
                  <a:srgbClr val="2D3741"/>
                </a:solidFill>
                <a:latin typeface="Noto Sans KR"/>
                <a:ea typeface="Noto Sans KR"/>
                <a:cs typeface="Noto Sans KR"/>
                <a:sym typeface="Noto Sans KR"/>
              </a:rPr>
              <a:t>Affiliation or project</a:t>
            </a:r>
            <a:endParaRPr b="0" sz="1300">
              <a:solidFill>
                <a:srgbClr val="2D374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lnSpc>
                <a:spcPct val="90000"/>
              </a:lnSpc>
              <a:spcBef>
                <a:spcPts val="1150"/>
              </a:spcBef>
              <a:spcAft>
                <a:spcPts val="0"/>
              </a:spcAft>
              <a:buClr>
                <a:srgbClr val="2D3741"/>
              </a:buClr>
              <a:buSzPts val="1300"/>
              <a:buNone/>
            </a:pPr>
            <a:r>
              <a:rPr lang="en-US" sz="1300">
                <a:solidFill>
                  <a:srgbClr val="2D3741"/>
                </a:solidFill>
                <a:latin typeface="Noto Sans KR"/>
                <a:ea typeface="Noto Sans KR"/>
                <a:cs typeface="Noto Sans KR"/>
                <a:sym typeface="Noto Sans KR"/>
              </a:rPr>
              <a:t>Presenter</a:t>
            </a:r>
            <a:endParaRPr sz="1300">
              <a:solidFill>
                <a:srgbClr val="2D374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lnSpc>
                <a:spcPct val="90000"/>
              </a:lnSpc>
              <a:spcBef>
                <a:spcPts val="1150"/>
              </a:spcBef>
              <a:spcAft>
                <a:spcPts val="0"/>
              </a:spcAft>
              <a:buClr>
                <a:srgbClr val="646E78"/>
              </a:buClr>
              <a:buSzPts val="1200"/>
              <a:buNone/>
            </a:pPr>
            <a:r>
              <a:rPr b="0" lang="en-US" sz="1200">
                <a:solidFill>
                  <a:srgbClr val="646E78"/>
                </a:solidFill>
                <a:latin typeface="Noto Sans KR"/>
                <a:ea typeface="Noto Sans KR"/>
                <a:cs typeface="Noto Sans KR"/>
                <a:sym typeface="Noto Sans KR"/>
              </a:rPr>
              <a:t>Date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58" name="Element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Element 2"/>
          <p:cNvSpPr txBox="1"/>
          <p:nvPr>
            <p:ph type="title"/>
          </p:nvPr>
        </p:nvSpPr>
        <p:spPr>
          <a:xfrm>
            <a:off x="307548" y="136524"/>
            <a:ext cx="11577000" cy="96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Noto Sans KR"/>
              <a:buNone/>
            </a:pPr>
            <a:r>
              <a:rPr b="1" lang="en-US" sz="36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Research roadmap</a:t>
            </a:r>
            <a:endParaRPr b="1" sz="3600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0" name="Element 3"/>
          <p:cNvSpPr txBox="1"/>
          <p:nvPr/>
        </p:nvSpPr>
        <p:spPr>
          <a:xfrm>
            <a:off x="450977" y="1490472"/>
            <a:ext cx="37572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4191"/>
                </a:solidFill>
                <a:latin typeface="Noto Sans KR"/>
                <a:ea typeface="Noto Sans KR"/>
                <a:cs typeface="Noto Sans KR"/>
                <a:sym typeface="Noto Sans KR"/>
              </a:rPr>
              <a:t>Stage 1 · </a:t>
            </a:r>
            <a:r>
              <a:rPr b="1" lang="en-US" sz="1100">
                <a:solidFill>
                  <a:srgbClr val="004191"/>
                </a:solidFill>
                <a:latin typeface="Noto Sans KR"/>
                <a:ea typeface="Noto Sans KR"/>
                <a:cs typeface="Noto Sans KR"/>
                <a:sym typeface="Noto Sans KR"/>
              </a:rPr>
              <a:t>Problem framing and baseline evidence</a:t>
            </a:r>
            <a:endParaRPr b="1" sz="1100">
              <a:solidFill>
                <a:srgbClr val="00419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1" name="Element 4"/>
          <p:cNvSpPr txBox="1"/>
          <p:nvPr/>
        </p:nvSpPr>
        <p:spPr>
          <a:xfrm>
            <a:off x="502927" y="3813048"/>
            <a:ext cx="41865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8EC31F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  <a:r>
              <a:rPr b="1" lang="en-US" sz="1100">
                <a:solidFill>
                  <a:srgbClr val="8EC31F"/>
                </a:solidFill>
                <a:latin typeface="Noto Sans KR"/>
                <a:ea typeface="Noto Sans KR"/>
                <a:cs typeface="Noto Sans KR"/>
                <a:sym typeface="Noto Sans KR"/>
              </a:rPr>
              <a:t>Stage </a:t>
            </a:r>
            <a:r>
              <a:rPr b="1" i="0" lang="en-US" sz="1100" u="none" cap="none" strike="noStrike">
                <a:solidFill>
                  <a:srgbClr val="8EC31F"/>
                </a:solidFill>
                <a:latin typeface="Noto Sans KR"/>
                <a:ea typeface="Noto Sans KR"/>
                <a:cs typeface="Noto Sans KR"/>
                <a:sym typeface="Noto Sans KR"/>
              </a:rPr>
              <a:t>· </a:t>
            </a:r>
            <a:r>
              <a:rPr b="1" lang="en-US" sz="1100">
                <a:solidFill>
                  <a:srgbClr val="8EC31F"/>
                </a:solidFill>
                <a:latin typeface="Noto Sans KR"/>
                <a:ea typeface="Noto Sans KR"/>
                <a:cs typeface="Noto Sans KR"/>
                <a:sym typeface="Noto Sans KR"/>
              </a:rPr>
              <a:t>Method development and controlled evaluation</a:t>
            </a:r>
            <a:endParaRPr b="1" sz="1100">
              <a:solidFill>
                <a:srgbClr val="8EC31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2" name="Element 5"/>
          <p:cNvSpPr txBox="1"/>
          <p:nvPr/>
        </p:nvSpPr>
        <p:spPr>
          <a:xfrm>
            <a:off x="3236646" y="4801438"/>
            <a:ext cx="3474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8EC31F"/>
                </a:solidFill>
                <a:latin typeface="Noto Sans KR"/>
                <a:ea typeface="Noto Sans KR"/>
                <a:cs typeface="Noto Sans KR"/>
                <a:sym typeface="Noto Sans KR"/>
              </a:rPr>
              <a:t>→</a:t>
            </a:r>
            <a:endParaRPr/>
          </a:p>
        </p:txBody>
      </p:sp>
      <p:sp>
        <p:nvSpPr>
          <p:cNvPr id="63" name="Element 6"/>
          <p:cNvSpPr txBox="1"/>
          <p:nvPr/>
        </p:nvSpPr>
        <p:spPr>
          <a:xfrm>
            <a:off x="2820740" y="2485070"/>
            <a:ext cx="3474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E6EB8"/>
                </a:solidFill>
                <a:latin typeface="Noto Sans KR"/>
                <a:ea typeface="Noto Sans KR"/>
                <a:cs typeface="Noto Sans KR"/>
                <a:sym typeface="Noto Sans KR"/>
              </a:rPr>
              <a:t>→</a:t>
            </a:r>
            <a:endParaRPr b="1"/>
          </a:p>
        </p:txBody>
      </p:sp>
      <p:grpSp>
        <p:nvGrpSpPr>
          <p:cNvPr id="64" name="Element 7"/>
          <p:cNvGrpSpPr/>
          <p:nvPr/>
        </p:nvGrpSpPr>
        <p:grpSpPr>
          <a:xfrm>
            <a:off x="502928" y="1950200"/>
            <a:ext cx="2017704" cy="1435500"/>
            <a:chOff x="363350" y="1755625"/>
            <a:chExt cx="1901700" cy="1435500"/>
          </a:xfrm>
        </p:grpSpPr>
        <p:sp>
          <p:nvSpPr>
            <p:cNvPr id="65" name="Element 8"/>
            <p:cNvSpPr/>
            <p:nvPr/>
          </p:nvSpPr>
          <p:spPr>
            <a:xfrm>
              <a:off x="363350" y="1755625"/>
              <a:ext cx="1901700" cy="1435500"/>
            </a:xfrm>
            <a:prstGeom prst="rect">
              <a:avLst/>
            </a:prstGeom>
            <a:solidFill>
              <a:srgbClr val="FFFFFF"/>
            </a:solidFill>
            <a:ln cap="flat" cmpd="sng" w="7900">
              <a:solidFill>
                <a:srgbClr val="CDD5DD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28475" lIns="56950" spcFirstLastPara="1" rIns="56950" wrap="square" tIns="284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1121" u="none" cap="none" strike="noStrike">
                <a:solidFill>
                  <a:schemeClr val="dk1"/>
                </a:solidFill>
              </a:endParaRPr>
            </a:p>
          </p:txBody>
        </p:sp>
        <p:sp>
          <p:nvSpPr>
            <p:cNvPr id="66" name="Element 9"/>
            <p:cNvSpPr/>
            <p:nvPr/>
          </p:nvSpPr>
          <p:spPr>
            <a:xfrm>
              <a:off x="363350" y="1755625"/>
              <a:ext cx="63900" cy="1435500"/>
            </a:xfrm>
            <a:prstGeom prst="rect">
              <a:avLst/>
            </a:prstGeom>
            <a:solidFill>
              <a:srgbClr val="004191"/>
            </a:solidFill>
            <a:ln>
              <a:noFill/>
            </a:ln>
          </p:spPr>
          <p:txBody>
            <a:bodyPr anchorCtr="0" anchor="ctr" bIns="28475" lIns="56950" spcFirstLastPara="1" rIns="56950" wrap="square" tIns="284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1121" u="none" cap="none" strike="noStrike">
                <a:solidFill>
                  <a:schemeClr val="dk1"/>
                </a:solidFill>
              </a:endParaRPr>
            </a:p>
          </p:txBody>
        </p:sp>
        <p:sp>
          <p:nvSpPr>
            <p:cNvPr id="67" name="Element 10"/>
            <p:cNvSpPr txBox="1"/>
            <p:nvPr/>
          </p:nvSpPr>
          <p:spPr>
            <a:xfrm>
              <a:off x="530352" y="1828800"/>
              <a:ext cx="640200" cy="22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275" lIns="18275" spcFirstLastPara="1" rIns="18275" wrap="square" tIns="18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00419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Phase A</a:t>
              </a:r>
              <a:endParaRPr b="1"/>
            </a:p>
          </p:txBody>
        </p:sp>
        <p:sp>
          <p:nvSpPr>
            <p:cNvPr id="68" name="Element 11"/>
            <p:cNvSpPr txBox="1"/>
            <p:nvPr/>
          </p:nvSpPr>
          <p:spPr>
            <a:xfrm>
              <a:off x="502925" y="2212850"/>
              <a:ext cx="1761900" cy="5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275" lIns="18275" spcFirstLastPara="1" rIns="18275" wrap="square" tIns="18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00">
                  <a:latin typeface="Noto Sans KR"/>
                  <a:ea typeface="Noto Sans KR"/>
                  <a:cs typeface="Noto Sans KR"/>
                  <a:sym typeface="Noto Sans KR"/>
                </a:rPr>
                <a:t>Problem and evidence</a:t>
              </a:r>
              <a:endParaRPr b="1"/>
            </a:p>
          </p:txBody>
        </p:sp>
      </p:grpSp>
      <p:sp>
        <p:nvSpPr>
          <p:cNvPr id="69" name="Element 12"/>
          <p:cNvSpPr txBox="1"/>
          <p:nvPr/>
        </p:nvSpPr>
        <p:spPr>
          <a:xfrm>
            <a:off x="5786059" y="2485070"/>
            <a:ext cx="3474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E6EB8"/>
                </a:solidFill>
                <a:latin typeface="Noto Sans KR"/>
                <a:ea typeface="Noto Sans KR"/>
                <a:cs typeface="Noto Sans KR"/>
                <a:sym typeface="Noto Sans KR"/>
              </a:rPr>
              <a:t>→</a:t>
            </a:r>
            <a:endParaRPr b="1"/>
          </a:p>
        </p:txBody>
      </p:sp>
      <p:sp>
        <p:nvSpPr>
          <p:cNvPr id="70" name="Element 13"/>
          <p:cNvSpPr txBox="1"/>
          <p:nvPr/>
        </p:nvSpPr>
        <p:spPr>
          <a:xfrm>
            <a:off x="8751379" y="2485070"/>
            <a:ext cx="3474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E6EB8"/>
                </a:solidFill>
                <a:latin typeface="Noto Sans KR"/>
                <a:ea typeface="Noto Sans KR"/>
                <a:cs typeface="Noto Sans KR"/>
                <a:sym typeface="Noto Sans KR"/>
              </a:rPr>
              <a:t>→</a:t>
            </a:r>
            <a:endParaRPr b="1"/>
          </a:p>
        </p:txBody>
      </p:sp>
      <p:grpSp>
        <p:nvGrpSpPr>
          <p:cNvPr id="71" name="Element 14"/>
          <p:cNvGrpSpPr/>
          <p:nvPr/>
        </p:nvGrpSpPr>
        <p:grpSpPr>
          <a:xfrm>
            <a:off x="3468248" y="1950200"/>
            <a:ext cx="2017704" cy="1435500"/>
            <a:chOff x="363350" y="1755625"/>
            <a:chExt cx="1901700" cy="1435500"/>
          </a:xfrm>
        </p:grpSpPr>
        <p:sp>
          <p:nvSpPr>
            <p:cNvPr id="72" name="Element 15"/>
            <p:cNvSpPr/>
            <p:nvPr/>
          </p:nvSpPr>
          <p:spPr>
            <a:xfrm>
              <a:off x="363350" y="1755625"/>
              <a:ext cx="1901700" cy="1435500"/>
            </a:xfrm>
            <a:prstGeom prst="rect">
              <a:avLst/>
            </a:prstGeom>
            <a:solidFill>
              <a:srgbClr val="FFFFFF"/>
            </a:solidFill>
            <a:ln cap="flat" cmpd="sng" w="7900">
              <a:solidFill>
                <a:srgbClr val="CDD5DD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28475" lIns="56950" spcFirstLastPara="1" rIns="56950" wrap="square" tIns="284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1121" u="none" cap="none" strike="noStrike">
                <a:solidFill>
                  <a:schemeClr val="dk1"/>
                </a:solidFill>
              </a:endParaRPr>
            </a:p>
          </p:txBody>
        </p:sp>
        <p:sp>
          <p:nvSpPr>
            <p:cNvPr id="73" name="Element 16"/>
            <p:cNvSpPr/>
            <p:nvPr/>
          </p:nvSpPr>
          <p:spPr>
            <a:xfrm>
              <a:off x="363350" y="1755625"/>
              <a:ext cx="63900" cy="1435500"/>
            </a:xfrm>
            <a:prstGeom prst="rect">
              <a:avLst/>
            </a:prstGeom>
            <a:solidFill>
              <a:srgbClr val="004191"/>
            </a:solidFill>
            <a:ln>
              <a:noFill/>
            </a:ln>
          </p:spPr>
          <p:txBody>
            <a:bodyPr anchorCtr="0" anchor="ctr" bIns="28475" lIns="56950" spcFirstLastPara="1" rIns="56950" wrap="square" tIns="284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1121" u="none" cap="none" strike="noStrike">
                <a:solidFill>
                  <a:schemeClr val="dk1"/>
                </a:solidFill>
              </a:endParaRPr>
            </a:p>
          </p:txBody>
        </p:sp>
        <p:sp>
          <p:nvSpPr>
            <p:cNvPr id="74" name="Element 17"/>
            <p:cNvSpPr txBox="1"/>
            <p:nvPr/>
          </p:nvSpPr>
          <p:spPr>
            <a:xfrm>
              <a:off x="530352" y="1828800"/>
              <a:ext cx="640200" cy="22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275" lIns="18275" spcFirstLastPara="1" rIns="18275" wrap="square" tIns="18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00419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Phase</a:t>
              </a:r>
              <a:r>
                <a:rPr b="1" lang="en-US" sz="1200">
                  <a:solidFill>
                    <a:srgbClr val="00419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B</a:t>
              </a:r>
              <a:endParaRPr b="1"/>
            </a:p>
          </p:txBody>
        </p:sp>
        <p:sp>
          <p:nvSpPr>
            <p:cNvPr id="75" name="Element 18"/>
            <p:cNvSpPr txBox="1"/>
            <p:nvPr/>
          </p:nvSpPr>
          <p:spPr>
            <a:xfrm>
              <a:off x="502925" y="2212850"/>
              <a:ext cx="1761900" cy="5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275" lIns="18275" spcFirstLastPara="1" rIns="18275" wrap="square" tIns="18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00">
                  <a:latin typeface="Noto Sans KR"/>
                  <a:ea typeface="Noto Sans KR"/>
                  <a:cs typeface="Noto Sans KR"/>
                  <a:sym typeface="Noto Sans KR"/>
                </a:rPr>
                <a:t>Method</a:t>
              </a:r>
              <a:br>
                <a:rPr b="1" lang="en-US" sz="1700">
                  <a:latin typeface="Noto Sans KR"/>
                  <a:ea typeface="Noto Sans KR"/>
                  <a:cs typeface="Noto Sans KR"/>
                  <a:sym typeface="Noto Sans KR"/>
                </a:rPr>
              </a:br>
              <a:r>
                <a:rPr b="1" lang="en-US" sz="1700">
                  <a:latin typeface="Noto Sans KR"/>
                  <a:ea typeface="Noto Sans KR"/>
                  <a:cs typeface="Noto Sans KR"/>
                  <a:sym typeface="Noto Sans KR"/>
                </a:rPr>
                <a:t>design</a:t>
              </a:r>
              <a:endParaRPr b="1"/>
            </a:p>
          </p:txBody>
        </p:sp>
      </p:grpSp>
      <p:grpSp>
        <p:nvGrpSpPr>
          <p:cNvPr id="76" name="Element 19"/>
          <p:cNvGrpSpPr/>
          <p:nvPr/>
        </p:nvGrpSpPr>
        <p:grpSpPr>
          <a:xfrm>
            <a:off x="6433567" y="1950200"/>
            <a:ext cx="2017704" cy="1435500"/>
            <a:chOff x="363350" y="1755625"/>
            <a:chExt cx="1901700" cy="1435500"/>
          </a:xfrm>
        </p:grpSpPr>
        <p:sp>
          <p:nvSpPr>
            <p:cNvPr id="77" name="Element 20"/>
            <p:cNvSpPr/>
            <p:nvPr/>
          </p:nvSpPr>
          <p:spPr>
            <a:xfrm>
              <a:off x="363350" y="1755625"/>
              <a:ext cx="1901700" cy="1435500"/>
            </a:xfrm>
            <a:prstGeom prst="rect">
              <a:avLst/>
            </a:prstGeom>
            <a:solidFill>
              <a:srgbClr val="FFFFFF"/>
            </a:solidFill>
            <a:ln cap="flat" cmpd="sng" w="7900">
              <a:solidFill>
                <a:srgbClr val="CDD5DD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28475" lIns="56950" spcFirstLastPara="1" rIns="56950" wrap="square" tIns="284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1121" u="none" cap="none" strike="noStrike">
                <a:solidFill>
                  <a:schemeClr val="dk1"/>
                </a:solidFill>
              </a:endParaRPr>
            </a:p>
          </p:txBody>
        </p:sp>
        <p:sp>
          <p:nvSpPr>
            <p:cNvPr id="78" name="Element 21"/>
            <p:cNvSpPr/>
            <p:nvPr/>
          </p:nvSpPr>
          <p:spPr>
            <a:xfrm>
              <a:off x="363350" y="1755625"/>
              <a:ext cx="63900" cy="1435500"/>
            </a:xfrm>
            <a:prstGeom prst="rect">
              <a:avLst/>
            </a:prstGeom>
            <a:solidFill>
              <a:srgbClr val="004191"/>
            </a:solidFill>
            <a:ln>
              <a:noFill/>
            </a:ln>
          </p:spPr>
          <p:txBody>
            <a:bodyPr anchorCtr="0" anchor="ctr" bIns="28475" lIns="56950" spcFirstLastPara="1" rIns="56950" wrap="square" tIns="284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1121" u="none" cap="none" strike="noStrike">
                <a:solidFill>
                  <a:schemeClr val="dk1"/>
                </a:solidFill>
              </a:endParaRPr>
            </a:p>
          </p:txBody>
        </p:sp>
        <p:sp>
          <p:nvSpPr>
            <p:cNvPr id="79" name="Element 22"/>
            <p:cNvSpPr txBox="1"/>
            <p:nvPr/>
          </p:nvSpPr>
          <p:spPr>
            <a:xfrm>
              <a:off x="530352" y="1828800"/>
              <a:ext cx="640200" cy="22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275" lIns="18275" spcFirstLastPara="1" rIns="18275" wrap="square" tIns="18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00419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Phase</a:t>
              </a:r>
              <a:r>
                <a:rPr b="1" lang="en-US" sz="1200">
                  <a:solidFill>
                    <a:srgbClr val="00419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C</a:t>
              </a:r>
              <a:endParaRPr b="1"/>
            </a:p>
          </p:txBody>
        </p:sp>
        <p:sp>
          <p:nvSpPr>
            <p:cNvPr id="80" name="Element 23"/>
            <p:cNvSpPr txBox="1"/>
            <p:nvPr/>
          </p:nvSpPr>
          <p:spPr>
            <a:xfrm>
              <a:off x="502925" y="2212850"/>
              <a:ext cx="1761900" cy="5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275" lIns="18275" spcFirstLastPara="1" rIns="18275" wrap="square" tIns="18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00">
                  <a:latin typeface="Noto Sans KR"/>
                  <a:ea typeface="Noto Sans KR"/>
                  <a:cs typeface="Noto Sans KR"/>
                  <a:sym typeface="Noto Sans KR"/>
                </a:rPr>
                <a:t>Main</a:t>
              </a:r>
              <a:br>
                <a:rPr b="1" lang="en-US" sz="1700">
                  <a:latin typeface="Noto Sans KR"/>
                  <a:ea typeface="Noto Sans KR"/>
                  <a:cs typeface="Noto Sans KR"/>
                  <a:sym typeface="Noto Sans KR"/>
                </a:rPr>
              </a:br>
              <a:r>
                <a:rPr b="1" lang="en-US" sz="1700">
                  <a:latin typeface="Noto Sans KR"/>
                  <a:ea typeface="Noto Sans KR"/>
                  <a:cs typeface="Noto Sans KR"/>
                  <a:sym typeface="Noto Sans KR"/>
                </a:rPr>
                <a:t>evaluation</a:t>
              </a:r>
              <a:endParaRPr b="1"/>
            </a:p>
          </p:txBody>
        </p:sp>
      </p:grpSp>
      <p:grpSp>
        <p:nvGrpSpPr>
          <p:cNvPr id="81" name="Element 24"/>
          <p:cNvGrpSpPr/>
          <p:nvPr/>
        </p:nvGrpSpPr>
        <p:grpSpPr>
          <a:xfrm>
            <a:off x="9398887" y="1950200"/>
            <a:ext cx="2017704" cy="1435500"/>
            <a:chOff x="363350" y="1755625"/>
            <a:chExt cx="1901700" cy="1435500"/>
          </a:xfrm>
        </p:grpSpPr>
        <p:sp>
          <p:nvSpPr>
            <p:cNvPr id="82" name="Element 25"/>
            <p:cNvSpPr/>
            <p:nvPr/>
          </p:nvSpPr>
          <p:spPr>
            <a:xfrm>
              <a:off x="363350" y="1755625"/>
              <a:ext cx="1901700" cy="1435500"/>
            </a:xfrm>
            <a:prstGeom prst="rect">
              <a:avLst/>
            </a:prstGeom>
            <a:solidFill>
              <a:srgbClr val="FFFFFF"/>
            </a:solidFill>
            <a:ln cap="flat" cmpd="sng" w="7900">
              <a:solidFill>
                <a:srgbClr val="CDD5DD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28475" lIns="56950" spcFirstLastPara="1" rIns="56950" wrap="square" tIns="284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1121" u="none" cap="none" strike="noStrike">
                <a:solidFill>
                  <a:schemeClr val="dk1"/>
                </a:solidFill>
              </a:endParaRPr>
            </a:p>
          </p:txBody>
        </p:sp>
        <p:sp>
          <p:nvSpPr>
            <p:cNvPr id="83" name="Element 26"/>
            <p:cNvSpPr/>
            <p:nvPr/>
          </p:nvSpPr>
          <p:spPr>
            <a:xfrm>
              <a:off x="363350" y="1755625"/>
              <a:ext cx="63900" cy="1435500"/>
            </a:xfrm>
            <a:prstGeom prst="rect">
              <a:avLst/>
            </a:prstGeom>
            <a:solidFill>
              <a:srgbClr val="004191"/>
            </a:solidFill>
            <a:ln>
              <a:noFill/>
            </a:ln>
          </p:spPr>
          <p:txBody>
            <a:bodyPr anchorCtr="0" anchor="ctr" bIns="28475" lIns="56950" spcFirstLastPara="1" rIns="56950" wrap="square" tIns="284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1121" u="none" cap="none" strike="noStrike">
                <a:solidFill>
                  <a:schemeClr val="dk1"/>
                </a:solidFill>
              </a:endParaRPr>
            </a:p>
          </p:txBody>
        </p:sp>
        <p:sp>
          <p:nvSpPr>
            <p:cNvPr id="84" name="Element 27"/>
            <p:cNvSpPr txBox="1"/>
            <p:nvPr/>
          </p:nvSpPr>
          <p:spPr>
            <a:xfrm>
              <a:off x="530352" y="1828800"/>
              <a:ext cx="640200" cy="22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275" lIns="18275" spcFirstLastPara="1" rIns="18275" wrap="square" tIns="18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00419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Phase</a:t>
              </a:r>
              <a:r>
                <a:rPr b="1" lang="en-US" sz="1200">
                  <a:solidFill>
                    <a:srgbClr val="00419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D</a:t>
              </a:r>
              <a:endParaRPr b="1"/>
            </a:p>
          </p:txBody>
        </p:sp>
        <p:sp>
          <p:nvSpPr>
            <p:cNvPr id="85" name="Element 28"/>
            <p:cNvSpPr txBox="1"/>
            <p:nvPr/>
          </p:nvSpPr>
          <p:spPr>
            <a:xfrm>
              <a:off x="502925" y="2212850"/>
              <a:ext cx="1761900" cy="5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275" lIns="18275" spcFirstLastPara="1" rIns="18275" wrap="square" tIns="18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00">
                  <a:latin typeface="Noto Sans KR"/>
                  <a:ea typeface="Noto Sans KR"/>
                  <a:cs typeface="Noto Sans KR"/>
                  <a:sym typeface="Noto Sans KR"/>
                </a:rPr>
                <a:t>Analysis and</a:t>
              </a:r>
              <a:br>
                <a:rPr b="1" lang="en-US" sz="1700">
                  <a:latin typeface="Noto Sans KR"/>
                  <a:ea typeface="Noto Sans KR"/>
                  <a:cs typeface="Noto Sans KR"/>
                  <a:sym typeface="Noto Sans KR"/>
                </a:rPr>
              </a:br>
              <a:r>
                <a:rPr b="1" lang="en-US" sz="1700">
                  <a:latin typeface="Noto Sans KR"/>
                  <a:ea typeface="Noto Sans KR"/>
                  <a:cs typeface="Noto Sans KR"/>
                  <a:sym typeface="Noto Sans KR"/>
                </a:rPr>
                <a:t>limitations</a:t>
              </a:r>
              <a:endParaRPr b="1" sz="1700"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sp>
        <p:nvSpPr>
          <p:cNvPr id="86" name="Element 29"/>
          <p:cNvSpPr txBox="1"/>
          <p:nvPr/>
        </p:nvSpPr>
        <p:spPr>
          <a:xfrm>
            <a:off x="502929" y="4796488"/>
            <a:ext cx="3474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8EC31F"/>
                </a:solidFill>
                <a:latin typeface="Noto Sans KR"/>
                <a:ea typeface="Noto Sans KR"/>
                <a:cs typeface="Noto Sans KR"/>
                <a:sym typeface="Noto Sans KR"/>
              </a:rPr>
              <a:t>→</a:t>
            </a:r>
            <a:endParaRPr/>
          </a:p>
        </p:txBody>
      </p:sp>
      <p:grpSp>
        <p:nvGrpSpPr>
          <p:cNvPr id="87" name="Element 30"/>
          <p:cNvGrpSpPr/>
          <p:nvPr/>
        </p:nvGrpSpPr>
        <p:grpSpPr>
          <a:xfrm>
            <a:off x="1034636" y="4266538"/>
            <a:ext cx="2017704" cy="1435500"/>
            <a:chOff x="363350" y="1755625"/>
            <a:chExt cx="1901700" cy="1435500"/>
          </a:xfrm>
        </p:grpSpPr>
        <p:sp>
          <p:nvSpPr>
            <p:cNvPr id="88" name="Element 31"/>
            <p:cNvSpPr/>
            <p:nvPr/>
          </p:nvSpPr>
          <p:spPr>
            <a:xfrm>
              <a:off x="363350" y="1755625"/>
              <a:ext cx="1901700" cy="1435500"/>
            </a:xfrm>
            <a:prstGeom prst="rect">
              <a:avLst/>
            </a:prstGeom>
            <a:solidFill>
              <a:srgbClr val="FFFFFF"/>
            </a:solidFill>
            <a:ln cap="flat" cmpd="sng" w="7900">
              <a:solidFill>
                <a:srgbClr val="CDD5DD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28475" lIns="56950" spcFirstLastPara="1" rIns="56950" wrap="square" tIns="284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1121" u="none" cap="none" strike="noStrike">
                <a:solidFill>
                  <a:schemeClr val="dk1"/>
                </a:solidFill>
              </a:endParaRPr>
            </a:p>
          </p:txBody>
        </p:sp>
        <p:sp>
          <p:nvSpPr>
            <p:cNvPr id="89" name="Element 32"/>
            <p:cNvSpPr/>
            <p:nvPr/>
          </p:nvSpPr>
          <p:spPr>
            <a:xfrm>
              <a:off x="363350" y="1755625"/>
              <a:ext cx="63900" cy="14355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28475" lIns="56950" spcFirstLastPara="1" rIns="56950" wrap="square" tIns="284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1121" u="none" cap="none" strike="noStrike">
                <a:solidFill>
                  <a:schemeClr val="dk1"/>
                </a:solidFill>
              </a:endParaRPr>
            </a:p>
          </p:txBody>
        </p:sp>
        <p:sp>
          <p:nvSpPr>
            <p:cNvPr id="90" name="Element 33"/>
            <p:cNvSpPr txBox="1"/>
            <p:nvPr/>
          </p:nvSpPr>
          <p:spPr>
            <a:xfrm>
              <a:off x="530352" y="1828800"/>
              <a:ext cx="640200" cy="22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275" lIns="18275" spcFirstLastPara="1" rIns="18275" wrap="square" tIns="18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chemeClr val="accent6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Phase</a:t>
              </a:r>
              <a:r>
                <a:rPr b="1" lang="en-US" sz="1200">
                  <a:solidFill>
                    <a:schemeClr val="accent6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E</a:t>
              </a:r>
              <a:endParaRPr b="1">
                <a:solidFill>
                  <a:schemeClr val="accent6"/>
                </a:solidFill>
              </a:endParaRPr>
            </a:p>
          </p:txBody>
        </p:sp>
        <p:sp>
          <p:nvSpPr>
            <p:cNvPr id="91" name="Element 34"/>
            <p:cNvSpPr txBox="1"/>
            <p:nvPr/>
          </p:nvSpPr>
          <p:spPr>
            <a:xfrm>
              <a:off x="502925" y="2212850"/>
              <a:ext cx="1761900" cy="82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275" lIns="18275" spcFirstLastPara="1" rIns="18275" wrap="square" tIns="18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00">
                  <a:latin typeface="Noto Sans KR"/>
                  <a:ea typeface="Noto Sans KR"/>
                  <a:cs typeface="Noto Sans KR"/>
                  <a:sym typeface="Noto Sans KR"/>
                </a:rPr>
                <a:t>Generalization and robustness</a:t>
              </a:r>
              <a:endParaRPr b="1"/>
            </a:p>
          </p:txBody>
        </p:sp>
      </p:grpSp>
      <p:grpSp>
        <p:nvGrpSpPr>
          <p:cNvPr id="92" name="Element 35"/>
          <p:cNvGrpSpPr/>
          <p:nvPr/>
        </p:nvGrpSpPr>
        <p:grpSpPr>
          <a:xfrm>
            <a:off x="3768353" y="4266538"/>
            <a:ext cx="2017704" cy="1435500"/>
            <a:chOff x="363350" y="1755625"/>
            <a:chExt cx="1901700" cy="1435500"/>
          </a:xfrm>
        </p:grpSpPr>
        <p:sp>
          <p:nvSpPr>
            <p:cNvPr id="93" name="Element 36"/>
            <p:cNvSpPr/>
            <p:nvPr/>
          </p:nvSpPr>
          <p:spPr>
            <a:xfrm>
              <a:off x="363350" y="1755625"/>
              <a:ext cx="1901700" cy="1435500"/>
            </a:xfrm>
            <a:prstGeom prst="rect">
              <a:avLst/>
            </a:prstGeom>
            <a:solidFill>
              <a:srgbClr val="FFFFFF"/>
            </a:solidFill>
            <a:ln cap="flat" cmpd="sng" w="7900">
              <a:solidFill>
                <a:srgbClr val="CDD5DD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28475" lIns="56950" spcFirstLastPara="1" rIns="56950" wrap="square" tIns="284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1121" u="none" cap="none" strike="noStrike">
                <a:solidFill>
                  <a:schemeClr val="dk1"/>
                </a:solidFill>
              </a:endParaRPr>
            </a:p>
          </p:txBody>
        </p:sp>
        <p:sp>
          <p:nvSpPr>
            <p:cNvPr id="94" name="Element 37"/>
            <p:cNvSpPr/>
            <p:nvPr/>
          </p:nvSpPr>
          <p:spPr>
            <a:xfrm>
              <a:off x="363350" y="1755625"/>
              <a:ext cx="63900" cy="14355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28475" lIns="56950" spcFirstLastPara="1" rIns="56950" wrap="square" tIns="284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1121" u="none" cap="none" strike="noStrike">
                <a:solidFill>
                  <a:schemeClr val="dk1"/>
                </a:solidFill>
              </a:endParaRPr>
            </a:p>
          </p:txBody>
        </p:sp>
        <p:sp>
          <p:nvSpPr>
            <p:cNvPr id="95" name="Element 38"/>
            <p:cNvSpPr txBox="1"/>
            <p:nvPr/>
          </p:nvSpPr>
          <p:spPr>
            <a:xfrm>
              <a:off x="530352" y="1828800"/>
              <a:ext cx="640200" cy="22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275" lIns="18275" spcFirstLastPara="1" rIns="18275" wrap="square" tIns="18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chemeClr val="accent6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Phase</a:t>
              </a:r>
              <a:r>
                <a:rPr b="1" lang="en-US" sz="1200">
                  <a:solidFill>
                    <a:schemeClr val="accent6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F</a:t>
              </a:r>
              <a:endParaRPr b="1">
                <a:solidFill>
                  <a:schemeClr val="accent6"/>
                </a:solidFill>
              </a:endParaRPr>
            </a:p>
          </p:txBody>
        </p:sp>
        <p:sp>
          <p:nvSpPr>
            <p:cNvPr id="96" name="Element 39"/>
            <p:cNvSpPr txBox="1"/>
            <p:nvPr/>
          </p:nvSpPr>
          <p:spPr>
            <a:xfrm>
              <a:off x="502925" y="2212850"/>
              <a:ext cx="1761900" cy="82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275" lIns="18275" spcFirstLastPara="1" rIns="18275" wrap="square" tIns="18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00">
                  <a:latin typeface="Noto Sans KR"/>
                  <a:ea typeface="Noto Sans KR"/>
                  <a:cs typeface="Noto Sans KR"/>
                  <a:sym typeface="Noto Sans KR"/>
                </a:rPr>
                <a:t>Release and reproducibility</a:t>
              </a:r>
              <a:endParaRPr b="1"/>
            </a:p>
          </p:txBody>
        </p:sp>
      </p:grpSp>
      <p:sp>
        <p:nvSpPr>
          <p:cNvPr id="97" name="Element 40"/>
          <p:cNvSpPr txBox="1"/>
          <p:nvPr/>
        </p:nvSpPr>
        <p:spPr>
          <a:xfrm>
            <a:off x="6133453" y="3813048"/>
            <a:ext cx="47742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accent5"/>
                </a:solidFill>
                <a:latin typeface="Noto Sans KR"/>
                <a:ea typeface="Noto Sans KR"/>
                <a:cs typeface="Noto Sans KR"/>
                <a:sym typeface="Noto Sans KR"/>
              </a:rPr>
              <a:t>3</a:t>
            </a:r>
            <a:r>
              <a:rPr b="1" lang="en-US" sz="1100">
                <a:solidFill>
                  <a:schemeClr val="accent5"/>
                </a:solidFill>
                <a:latin typeface="Noto Sans KR"/>
                <a:ea typeface="Noto Sans KR"/>
                <a:cs typeface="Noto Sans KR"/>
                <a:sym typeface="Noto Sans KR"/>
              </a:rPr>
              <a:t>Stage </a:t>
            </a:r>
            <a:r>
              <a:rPr b="1" i="0" lang="en-US" sz="1100" u="none" cap="none" strike="noStrike">
                <a:solidFill>
                  <a:schemeClr val="accent5"/>
                </a:solidFill>
                <a:latin typeface="Noto Sans KR"/>
                <a:ea typeface="Noto Sans KR"/>
                <a:cs typeface="Noto Sans KR"/>
                <a:sym typeface="Noto Sans KR"/>
              </a:rPr>
              <a:t>· </a:t>
            </a:r>
            <a:r>
              <a:rPr b="1" lang="en-US" sz="1100">
                <a:solidFill>
                  <a:schemeClr val="accent5"/>
                </a:solidFill>
                <a:latin typeface="Noto Sans KR"/>
                <a:ea typeface="Noto Sans KR"/>
                <a:cs typeface="Noto Sans KR"/>
                <a:sym typeface="Noto Sans KR"/>
              </a:rPr>
              <a:t>Synthesis and communication</a:t>
            </a:r>
            <a:endParaRPr b="1" sz="1100">
              <a:solidFill>
                <a:schemeClr val="accent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8" name="Element 41"/>
          <p:cNvSpPr txBox="1"/>
          <p:nvPr/>
        </p:nvSpPr>
        <p:spPr>
          <a:xfrm>
            <a:off x="8867171" y="4801438"/>
            <a:ext cx="3474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chemeClr val="accent5"/>
                </a:solidFill>
                <a:latin typeface="Noto Sans KR"/>
                <a:ea typeface="Noto Sans KR"/>
                <a:cs typeface="Noto Sans KR"/>
                <a:sym typeface="Noto Sans KR"/>
              </a:rPr>
              <a:t>→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99" name="Element 42"/>
          <p:cNvSpPr txBox="1"/>
          <p:nvPr/>
        </p:nvSpPr>
        <p:spPr>
          <a:xfrm>
            <a:off x="6133454" y="4796488"/>
            <a:ext cx="3474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chemeClr val="accent5"/>
                </a:solidFill>
                <a:latin typeface="Noto Sans KR"/>
                <a:ea typeface="Noto Sans KR"/>
                <a:cs typeface="Noto Sans KR"/>
                <a:sym typeface="Noto Sans KR"/>
              </a:rPr>
              <a:t>→</a:t>
            </a:r>
            <a:endParaRPr>
              <a:solidFill>
                <a:schemeClr val="accent5"/>
              </a:solidFill>
            </a:endParaRPr>
          </a:p>
        </p:txBody>
      </p:sp>
      <p:grpSp>
        <p:nvGrpSpPr>
          <p:cNvPr id="100" name="Element 43"/>
          <p:cNvGrpSpPr/>
          <p:nvPr/>
        </p:nvGrpSpPr>
        <p:grpSpPr>
          <a:xfrm>
            <a:off x="6665161" y="4266538"/>
            <a:ext cx="2017704" cy="1435500"/>
            <a:chOff x="363350" y="1755625"/>
            <a:chExt cx="1901700" cy="1435500"/>
          </a:xfrm>
        </p:grpSpPr>
        <p:sp>
          <p:nvSpPr>
            <p:cNvPr id="101" name="Element 44"/>
            <p:cNvSpPr/>
            <p:nvPr/>
          </p:nvSpPr>
          <p:spPr>
            <a:xfrm>
              <a:off x="363350" y="1755625"/>
              <a:ext cx="1901700" cy="1435500"/>
            </a:xfrm>
            <a:prstGeom prst="rect">
              <a:avLst/>
            </a:prstGeom>
            <a:solidFill>
              <a:srgbClr val="FFFFFF"/>
            </a:solidFill>
            <a:ln cap="flat" cmpd="sng" w="7900">
              <a:solidFill>
                <a:srgbClr val="CDD5DD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28475" lIns="56950" spcFirstLastPara="1" rIns="56950" wrap="square" tIns="284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1121" u="none" cap="none" strike="noStrike">
                <a:solidFill>
                  <a:schemeClr val="dk1"/>
                </a:solidFill>
              </a:endParaRPr>
            </a:p>
          </p:txBody>
        </p:sp>
        <p:sp>
          <p:nvSpPr>
            <p:cNvPr id="102" name="Element 45"/>
            <p:cNvSpPr/>
            <p:nvPr/>
          </p:nvSpPr>
          <p:spPr>
            <a:xfrm>
              <a:off x="363350" y="1755625"/>
              <a:ext cx="63900" cy="1435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28475" lIns="56950" spcFirstLastPara="1" rIns="56950" wrap="square" tIns="284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1121" u="none" cap="none" strike="noStrike">
                <a:solidFill>
                  <a:schemeClr val="dk1"/>
                </a:solidFill>
              </a:endParaRPr>
            </a:p>
          </p:txBody>
        </p:sp>
        <p:sp>
          <p:nvSpPr>
            <p:cNvPr id="103" name="Element 46"/>
            <p:cNvSpPr txBox="1"/>
            <p:nvPr/>
          </p:nvSpPr>
          <p:spPr>
            <a:xfrm>
              <a:off x="530352" y="1828800"/>
              <a:ext cx="640200" cy="22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275" lIns="18275" spcFirstLastPara="1" rIns="18275" wrap="square" tIns="18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chemeClr val="accent5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Final</a:t>
              </a:r>
              <a:endParaRPr b="1">
                <a:solidFill>
                  <a:schemeClr val="accent5"/>
                </a:solidFill>
              </a:endParaRPr>
            </a:p>
          </p:txBody>
        </p:sp>
        <p:sp>
          <p:nvSpPr>
            <p:cNvPr id="104" name="Element 47"/>
            <p:cNvSpPr txBox="1"/>
            <p:nvPr/>
          </p:nvSpPr>
          <p:spPr>
            <a:xfrm>
              <a:off x="502925" y="2212850"/>
              <a:ext cx="1761900" cy="82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275" lIns="18275" spcFirstLastPara="1" rIns="18275" wrap="square" tIns="18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00">
                  <a:latin typeface="Noto Sans KR"/>
                  <a:ea typeface="Noto Sans KR"/>
                  <a:cs typeface="Noto Sans KR"/>
                  <a:sym typeface="Noto Sans KR"/>
                </a:rPr>
                <a:t>Paper and artifact</a:t>
              </a:r>
              <a:endParaRPr b="1"/>
            </a:p>
          </p:txBody>
        </p:sp>
      </p:grpSp>
      <p:grpSp>
        <p:nvGrpSpPr>
          <p:cNvPr id="105" name="Element 48"/>
          <p:cNvGrpSpPr/>
          <p:nvPr/>
        </p:nvGrpSpPr>
        <p:grpSpPr>
          <a:xfrm>
            <a:off x="9398878" y="4266538"/>
            <a:ext cx="2017704" cy="1435500"/>
            <a:chOff x="363350" y="1755625"/>
            <a:chExt cx="1901700" cy="1435500"/>
          </a:xfrm>
        </p:grpSpPr>
        <p:sp>
          <p:nvSpPr>
            <p:cNvPr id="106" name="Element 49"/>
            <p:cNvSpPr/>
            <p:nvPr/>
          </p:nvSpPr>
          <p:spPr>
            <a:xfrm>
              <a:off x="363350" y="1755625"/>
              <a:ext cx="1901700" cy="1435500"/>
            </a:xfrm>
            <a:prstGeom prst="rect">
              <a:avLst/>
            </a:prstGeom>
            <a:solidFill>
              <a:srgbClr val="FFFFFF"/>
            </a:solidFill>
            <a:ln cap="flat" cmpd="sng" w="7900">
              <a:solidFill>
                <a:srgbClr val="CDD5DD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28475" lIns="56950" spcFirstLastPara="1" rIns="56950" wrap="square" tIns="284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1121" u="none" cap="none" strike="noStrike">
                <a:solidFill>
                  <a:schemeClr val="dk1"/>
                </a:solidFill>
              </a:endParaRPr>
            </a:p>
          </p:txBody>
        </p:sp>
        <p:sp>
          <p:nvSpPr>
            <p:cNvPr id="107" name="Element 50"/>
            <p:cNvSpPr/>
            <p:nvPr/>
          </p:nvSpPr>
          <p:spPr>
            <a:xfrm>
              <a:off x="363350" y="1755625"/>
              <a:ext cx="63900" cy="1435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28475" lIns="56950" spcFirstLastPara="1" rIns="56950" wrap="square" tIns="284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1121" u="none" cap="none" strike="noStrike">
                <a:solidFill>
                  <a:schemeClr val="dk1"/>
                </a:solidFill>
              </a:endParaRPr>
            </a:p>
          </p:txBody>
        </p:sp>
        <p:sp>
          <p:nvSpPr>
            <p:cNvPr id="108" name="Element 51"/>
            <p:cNvSpPr txBox="1"/>
            <p:nvPr/>
          </p:nvSpPr>
          <p:spPr>
            <a:xfrm>
              <a:off x="530352" y="1828800"/>
              <a:ext cx="640200" cy="22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275" lIns="18275" spcFirstLastPara="1" rIns="18275" wrap="square" tIns="18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chemeClr val="accent5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Next</a:t>
              </a:r>
              <a:endParaRPr b="1">
                <a:solidFill>
                  <a:schemeClr val="accent5"/>
                </a:solidFill>
              </a:endParaRPr>
            </a:p>
          </p:txBody>
        </p:sp>
        <p:sp>
          <p:nvSpPr>
            <p:cNvPr id="109" name="Element 52"/>
            <p:cNvSpPr txBox="1"/>
            <p:nvPr/>
          </p:nvSpPr>
          <p:spPr>
            <a:xfrm>
              <a:off x="502925" y="2212850"/>
              <a:ext cx="1761900" cy="82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275" lIns="18275" spcFirstLastPara="1" rIns="18275" wrap="square" tIns="18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00">
                  <a:latin typeface="Noto Sans KR"/>
                  <a:ea typeface="Noto Sans KR"/>
                  <a:cs typeface="Noto Sans KR"/>
                  <a:sym typeface="Noto Sans KR"/>
                </a:rPr>
                <a:t>Follow-up research</a:t>
              </a:r>
              <a:endParaRPr b="1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14" name="Element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Element 2"/>
          <p:cNvSpPr txBox="1"/>
          <p:nvPr>
            <p:ph type="title"/>
          </p:nvPr>
        </p:nvSpPr>
        <p:spPr>
          <a:xfrm>
            <a:off x="307548" y="136524"/>
            <a:ext cx="11577000" cy="96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Noto Sans KR"/>
              <a:buNone/>
            </a:pPr>
            <a:r>
              <a:rPr b="1" lang="en-US" sz="36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Method: evidence-guided improvement</a:t>
            </a:r>
            <a:endParaRPr b="1" sz="3600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6" name="Element 3"/>
          <p:cNvSpPr txBox="1"/>
          <p:nvPr/>
        </p:nvSpPr>
        <p:spPr>
          <a:xfrm>
            <a:off x="457125" y="4867325"/>
            <a:ext cx="11064300" cy="18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18275">
            <a:noAutofit/>
          </a:bodyPr>
          <a:lstStyle/>
          <a:p>
            <a:pPr indent="-333375" lvl="0" marL="457200" marR="0" rtl="0" algn="l">
              <a:lnSpc>
                <a:spcPct val="200000"/>
              </a:lnSpc>
              <a:spcBef>
                <a:spcPts val="1700"/>
              </a:spcBef>
              <a:spcAft>
                <a:spcPts val="0"/>
              </a:spcAft>
              <a:buClr>
                <a:srgbClr val="2D3741"/>
              </a:buClr>
              <a:buSzPts val="1650"/>
              <a:buFont typeface="Noto Sans KR"/>
              <a:buChar char="●"/>
            </a:pPr>
            <a:r>
              <a:rPr lang="en-US" sz="1650">
                <a:solidFill>
                  <a:srgbClr val="2D3741"/>
                </a:solidFill>
                <a:latin typeface="Noto Sans KR"/>
                <a:ea typeface="Noto Sans KR"/>
                <a:cs typeface="Noto Sans KR"/>
                <a:sym typeface="Noto Sans KR"/>
              </a:rPr>
              <a:t>Observe the current system behavior</a:t>
            </a:r>
            <a:endParaRPr sz="1650">
              <a:solidFill>
                <a:srgbClr val="2D374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33375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D3741"/>
              </a:buClr>
              <a:buSzPts val="1650"/>
              <a:buFont typeface="Noto Sans KR"/>
              <a:buChar char="●"/>
            </a:pPr>
            <a:r>
              <a:rPr lang="en-US" sz="1650">
                <a:solidFill>
                  <a:srgbClr val="2D3741"/>
                </a:solidFill>
                <a:latin typeface="Noto Sans KR"/>
                <a:ea typeface="Noto Sans KR"/>
                <a:cs typeface="Noto Sans KR"/>
                <a:sym typeface="Noto Sans KR"/>
              </a:rPr>
              <a:t>Identify a missing capability or strategy</a:t>
            </a:r>
            <a:endParaRPr sz="1650">
              <a:solidFill>
                <a:srgbClr val="2D374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33375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D3741"/>
              </a:buClr>
              <a:buSzPts val="1650"/>
              <a:buFont typeface="Noto Sans KR"/>
              <a:buChar char="●"/>
            </a:pPr>
            <a:r>
              <a:rPr lang="en-US" sz="1650">
                <a:solidFill>
                  <a:srgbClr val="2D3741"/>
                </a:solidFill>
                <a:latin typeface="Noto Sans KR"/>
                <a:ea typeface="Noto Sans KR"/>
                <a:cs typeface="Noto Sans KR"/>
                <a:sym typeface="Noto Sans KR"/>
              </a:rPr>
              <a:t>Add one complementary component and evaluate it</a:t>
            </a:r>
            <a:endParaRPr sz="1650"/>
          </a:p>
        </p:txBody>
      </p:sp>
      <p:grpSp>
        <p:nvGrpSpPr>
          <p:cNvPr id="117" name="Element 4"/>
          <p:cNvGrpSpPr/>
          <p:nvPr/>
        </p:nvGrpSpPr>
        <p:grpSpPr>
          <a:xfrm>
            <a:off x="548725" y="2154680"/>
            <a:ext cx="1965900" cy="1661700"/>
            <a:chOff x="548725" y="1819672"/>
            <a:chExt cx="1965900" cy="1661700"/>
          </a:xfrm>
        </p:grpSpPr>
        <p:sp>
          <p:nvSpPr>
            <p:cNvPr id="118" name="Element 5"/>
            <p:cNvSpPr/>
            <p:nvPr/>
          </p:nvSpPr>
          <p:spPr>
            <a:xfrm>
              <a:off x="548725" y="1819672"/>
              <a:ext cx="1965900" cy="16617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CDD5DD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19" name="Element 6"/>
            <p:cNvSpPr txBox="1"/>
            <p:nvPr/>
          </p:nvSpPr>
          <p:spPr>
            <a:xfrm>
              <a:off x="768184" y="2002544"/>
              <a:ext cx="1581900" cy="19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275" lIns="18275" spcFirstLastPara="1" rIns="18275" wrap="square" tIns="18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50" u="none" cap="none" strike="noStrike">
                  <a:solidFill>
                    <a:srgbClr val="00419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INPUT</a:t>
              </a:r>
              <a:endParaRPr/>
            </a:p>
          </p:txBody>
        </p:sp>
        <p:sp>
          <p:nvSpPr>
            <p:cNvPr id="120" name="Element 7"/>
            <p:cNvSpPr txBox="1"/>
            <p:nvPr/>
          </p:nvSpPr>
          <p:spPr>
            <a:xfrm>
              <a:off x="768184" y="2350016"/>
              <a:ext cx="1581900" cy="31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275" lIns="18275" spcFirstLastPara="1" rIns="18275" wrap="square" tIns="18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 u="none" cap="none" strike="noStrike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Task and team state</a:t>
              </a:r>
              <a:endParaRPr/>
            </a:p>
          </p:txBody>
        </p:sp>
        <p:sp>
          <p:nvSpPr>
            <p:cNvPr id="121" name="Element 8"/>
            <p:cNvSpPr txBox="1"/>
            <p:nvPr/>
          </p:nvSpPr>
          <p:spPr>
            <a:xfrm>
              <a:off x="768175" y="2935228"/>
              <a:ext cx="1581900" cy="5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275" lIns="18275" spcFirstLastPara="1" rIns="18275" wrap="square" tIns="18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2D374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Existing outputs and traces</a:t>
              </a:r>
              <a:endParaRPr sz="1200"/>
            </a:p>
          </p:txBody>
        </p:sp>
      </p:grpSp>
      <p:sp>
        <p:nvSpPr>
          <p:cNvPr id="122" name="Element 9"/>
          <p:cNvSpPr txBox="1"/>
          <p:nvPr/>
        </p:nvSpPr>
        <p:spPr>
          <a:xfrm>
            <a:off x="2578696" y="2774630"/>
            <a:ext cx="411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E6EB8"/>
                </a:solidFill>
                <a:latin typeface="Noto Sans KR"/>
                <a:ea typeface="Noto Sans KR"/>
                <a:cs typeface="Noto Sans KR"/>
                <a:sym typeface="Noto Sans KR"/>
              </a:rPr>
              <a:t>→</a:t>
            </a:r>
            <a:endParaRPr/>
          </a:p>
        </p:txBody>
      </p:sp>
      <p:grpSp>
        <p:nvGrpSpPr>
          <p:cNvPr id="123" name="Element 10"/>
          <p:cNvGrpSpPr/>
          <p:nvPr/>
        </p:nvGrpSpPr>
        <p:grpSpPr>
          <a:xfrm>
            <a:off x="3045040" y="1481336"/>
            <a:ext cx="2788810" cy="3008389"/>
            <a:chOff x="3045040" y="1481336"/>
            <a:chExt cx="2788810" cy="3008389"/>
          </a:xfrm>
        </p:grpSpPr>
        <p:grpSp>
          <p:nvGrpSpPr>
            <p:cNvPr id="124" name="Element 11"/>
            <p:cNvGrpSpPr/>
            <p:nvPr/>
          </p:nvGrpSpPr>
          <p:grpSpPr>
            <a:xfrm>
              <a:off x="3045040" y="1481336"/>
              <a:ext cx="2788800" cy="1389900"/>
              <a:chOff x="3045040" y="1481336"/>
              <a:chExt cx="2788800" cy="1389900"/>
            </a:xfrm>
          </p:grpSpPr>
          <p:sp>
            <p:nvSpPr>
              <p:cNvPr id="125" name="Element 12"/>
              <p:cNvSpPr/>
              <p:nvPr/>
            </p:nvSpPr>
            <p:spPr>
              <a:xfrm>
                <a:off x="3045040" y="1481336"/>
                <a:ext cx="2788800" cy="1389900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CDD5DD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  <p:sp>
            <p:nvSpPr>
              <p:cNvPr id="126" name="Element 13"/>
              <p:cNvSpPr txBox="1"/>
              <p:nvPr/>
            </p:nvSpPr>
            <p:spPr>
              <a:xfrm>
                <a:off x="3264496" y="1664216"/>
                <a:ext cx="2404800" cy="19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8275" lIns="18275" spcFirstLastPara="1" rIns="18275" wrap="square" tIns="18275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050" u="none" cap="none" strike="noStrike">
                    <a:solidFill>
                      <a:srgbClr val="00419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ANALYSIS</a:t>
                </a:r>
                <a:endParaRPr/>
              </a:p>
            </p:txBody>
          </p:sp>
          <p:sp>
            <p:nvSpPr>
              <p:cNvPr id="127" name="Element 14"/>
              <p:cNvSpPr txBox="1"/>
              <p:nvPr/>
            </p:nvSpPr>
            <p:spPr>
              <a:xfrm>
                <a:off x="3264496" y="2011688"/>
                <a:ext cx="2404800" cy="31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8275" lIns="18275" spcFirstLastPara="1" rIns="18275" wrap="square" tIns="18275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800" u="none" cap="none" strike="noStrike">
                    <a:solidFill>
                      <a:srgbClr val="000000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Residual pattern</a:t>
                </a:r>
                <a:endParaRPr/>
              </a:p>
            </p:txBody>
          </p:sp>
          <p:sp>
            <p:nvSpPr>
              <p:cNvPr id="128" name="Element 15"/>
              <p:cNvSpPr txBox="1"/>
              <p:nvPr/>
            </p:nvSpPr>
            <p:spPr>
              <a:xfrm>
                <a:off x="3264496" y="2596904"/>
                <a:ext cx="2404800" cy="109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8275" lIns="18275" spcFirstLastPara="1" rIns="18275" wrap="square" tIns="18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rgbClr val="2D374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What the team repeatedly misses</a:t>
                </a:r>
                <a:endParaRPr sz="1200"/>
              </a:p>
            </p:txBody>
          </p:sp>
        </p:grpSp>
        <p:grpSp>
          <p:nvGrpSpPr>
            <p:cNvPr id="129" name="Element 16"/>
            <p:cNvGrpSpPr/>
            <p:nvPr/>
          </p:nvGrpSpPr>
          <p:grpSpPr>
            <a:xfrm>
              <a:off x="3045050" y="3099825"/>
              <a:ext cx="2788800" cy="1389900"/>
              <a:chOff x="3045050" y="3099825"/>
              <a:chExt cx="2788800" cy="1389900"/>
            </a:xfrm>
          </p:grpSpPr>
          <p:sp>
            <p:nvSpPr>
              <p:cNvPr id="130" name="Element 17"/>
              <p:cNvSpPr/>
              <p:nvPr/>
            </p:nvSpPr>
            <p:spPr>
              <a:xfrm>
                <a:off x="3045050" y="3099825"/>
                <a:ext cx="2788800" cy="1389900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CDD5DD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  <p:sp>
            <p:nvSpPr>
              <p:cNvPr id="131" name="Element 18"/>
              <p:cNvSpPr txBox="1"/>
              <p:nvPr/>
            </p:nvSpPr>
            <p:spPr>
              <a:xfrm>
                <a:off x="3264496" y="3282704"/>
                <a:ext cx="2404800" cy="19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8275" lIns="18275" spcFirstLastPara="1" rIns="18275" wrap="square" tIns="18275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050" u="none" cap="none" strike="noStrike">
                    <a:solidFill>
                      <a:srgbClr val="8EC31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DESIGN</a:t>
                </a:r>
                <a:endParaRPr/>
              </a:p>
            </p:txBody>
          </p:sp>
          <p:sp>
            <p:nvSpPr>
              <p:cNvPr id="132" name="Element 19"/>
              <p:cNvSpPr txBox="1"/>
              <p:nvPr/>
            </p:nvSpPr>
            <p:spPr>
              <a:xfrm>
                <a:off x="3264496" y="3630176"/>
                <a:ext cx="2404800" cy="31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8275" lIns="18275" spcFirstLastPara="1" rIns="18275" wrap="square" tIns="18275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800" u="none" cap="none" strike="noStrike">
                    <a:solidFill>
                      <a:srgbClr val="000000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New component</a:t>
                </a:r>
                <a:endParaRPr/>
              </a:p>
            </p:txBody>
          </p:sp>
          <p:sp>
            <p:nvSpPr>
              <p:cNvPr id="133" name="Element 20"/>
              <p:cNvSpPr txBox="1"/>
              <p:nvPr/>
            </p:nvSpPr>
            <p:spPr>
              <a:xfrm>
                <a:off x="3264496" y="4215392"/>
                <a:ext cx="2404800" cy="109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8275" lIns="18275" spcFirstLastPara="1" rIns="18275" wrap="square" tIns="18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rgbClr val="2D374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A targeted complementary strategy</a:t>
                </a:r>
                <a:endParaRPr sz="1200"/>
              </a:p>
            </p:txBody>
          </p:sp>
        </p:grpSp>
      </p:grpSp>
      <p:sp>
        <p:nvSpPr>
          <p:cNvPr id="134" name="Element 21"/>
          <p:cNvSpPr txBox="1"/>
          <p:nvPr/>
        </p:nvSpPr>
        <p:spPr>
          <a:xfrm>
            <a:off x="5907112" y="2774630"/>
            <a:ext cx="411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E6EB8"/>
                </a:solidFill>
                <a:latin typeface="Noto Sans KR"/>
                <a:ea typeface="Noto Sans KR"/>
                <a:cs typeface="Noto Sans KR"/>
                <a:sym typeface="Noto Sans KR"/>
              </a:rPr>
              <a:t>→</a:t>
            </a:r>
            <a:endParaRPr/>
          </a:p>
        </p:txBody>
      </p:sp>
      <p:grpSp>
        <p:nvGrpSpPr>
          <p:cNvPr id="135" name="Element 22"/>
          <p:cNvGrpSpPr/>
          <p:nvPr/>
        </p:nvGrpSpPr>
        <p:grpSpPr>
          <a:xfrm>
            <a:off x="6382600" y="2154680"/>
            <a:ext cx="2011800" cy="1661700"/>
            <a:chOff x="6382600" y="1819672"/>
            <a:chExt cx="2011800" cy="1661700"/>
          </a:xfrm>
        </p:grpSpPr>
        <p:sp>
          <p:nvSpPr>
            <p:cNvPr id="136" name="Element 23"/>
            <p:cNvSpPr/>
            <p:nvPr/>
          </p:nvSpPr>
          <p:spPr>
            <a:xfrm>
              <a:off x="6382600" y="1819672"/>
              <a:ext cx="2011800" cy="16617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CDD5DD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37" name="Element 24"/>
            <p:cNvSpPr txBox="1"/>
            <p:nvPr/>
          </p:nvSpPr>
          <p:spPr>
            <a:xfrm>
              <a:off x="6602056" y="2002544"/>
              <a:ext cx="1627500" cy="19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275" lIns="18275" spcFirstLastPara="1" rIns="18275" wrap="square" tIns="18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50" u="none" cap="none" strike="noStrike">
                  <a:solidFill>
                    <a:srgbClr val="7030A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ADMISSION</a:t>
              </a:r>
              <a:endParaRPr/>
            </a:p>
          </p:txBody>
        </p:sp>
        <p:sp>
          <p:nvSpPr>
            <p:cNvPr id="138" name="Element 25"/>
            <p:cNvSpPr txBox="1"/>
            <p:nvPr/>
          </p:nvSpPr>
          <p:spPr>
            <a:xfrm>
              <a:off x="6602056" y="2350016"/>
              <a:ext cx="16275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275" lIns="18275" spcFirstLastPara="1" rIns="18275" wrap="square" tIns="18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Controlled comparison</a:t>
              </a:r>
              <a:endParaRPr sz="1600"/>
            </a:p>
          </p:txBody>
        </p:sp>
        <p:sp>
          <p:nvSpPr>
            <p:cNvPr id="139" name="Element 26"/>
            <p:cNvSpPr txBox="1"/>
            <p:nvPr/>
          </p:nvSpPr>
          <p:spPr>
            <a:xfrm>
              <a:off x="6602056" y="2935232"/>
              <a:ext cx="1627500" cy="4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275" lIns="18275" spcFirstLastPara="1" rIns="18275" wrap="square" tIns="18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2D374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Utility under matched budget</a:t>
              </a:r>
              <a:endParaRPr/>
            </a:p>
          </p:txBody>
        </p:sp>
      </p:grpSp>
      <p:sp>
        <p:nvSpPr>
          <p:cNvPr id="140" name="Element 27"/>
          <p:cNvSpPr txBox="1"/>
          <p:nvPr/>
        </p:nvSpPr>
        <p:spPr>
          <a:xfrm>
            <a:off x="8467432" y="2774630"/>
            <a:ext cx="411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E6EB8"/>
                </a:solidFill>
                <a:latin typeface="Noto Sans KR"/>
                <a:ea typeface="Noto Sans KR"/>
                <a:cs typeface="Noto Sans KR"/>
                <a:sym typeface="Noto Sans KR"/>
              </a:rPr>
              <a:t>→</a:t>
            </a:r>
            <a:endParaRPr/>
          </a:p>
        </p:txBody>
      </p:sp>
      <p:grpSp>
        <p:nvGrpSpPr>
          <p:cNvPr id="141" name="Element 28"/>
          <p:cNvGrpSpPr/>
          <p:nvPr/>
        </p:nvGrpSpPr>
        <p:grpSpPr>
          <a:xfrm>
            <a:off x="8942925" y="2154680"/>
            <a:ext cx="2578500" cy="1661700"/>
            <a:chOff x="8942925" y="1819672"/>
            <a:chExt cx="2578500" cy="1661700"/>
          </a:xfrm>
        </p:grpSpPr>
        <p:sp>
          <p:nvSpPr>
            <p:cNvPr id="142" name="Element 29"/>
            <p:cNvSpPr/>
            <p:nvPr/>
          </p:nvSpPr>
          <p:spPr>
            <a:xfrm>
              <a:off x="8942925" y="1819672"/>
              <a:ext cx="2578500" cy="16617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CDD5DD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43" name="Element 30"/>
            <p:cNvSpPr txBox="1"/>
            <p:nvPr/>
          </p:nvSpPr>
          <p:spPr>
            <a:xfrm>
              <a:off x="9162376" y="2002544"/>
              <a:ext cx="2194500" cy="19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275" lIns="18275" spcFirstLastPara="1" rIns="18275" wrap="square" tIns="18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50" u="none" cap="none" strike="noStrike">
                  <a:solidFill>
                    <a:srgbClr val="ED7D3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OUTPUT</a:t>
              </a:r>
              <a:endParaRPr/>
            </a:p>
          </p:txBody>
        </p:sp>
        <p:sp>
          <p:nvSpPr>
            <p:cNvPr id="144" name="Element 31"/>
            <p:cNvSpPr txBox="1"/>
            <p:nvPr/>
          </p:nvSpPr>
          <p:spPr>
            <a:xfrm>
              <a:off x="9162376" y="2350016"/>
              <a:ext cx="2194500" cy="31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275" lIns="18275" spcFirstLastPara="1" rIns="18275" wrap="square" tIns="18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 u="none" cap="none" strike="noStrike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Improved team</a:t>
              </a:r>
              <a:endParaRPr/>
            </a:p>
          </p:txBody>
        </p:sp>
        <p:sp>
          <p:nvSpPr>
            <p:cNvPr id="145" name="Element 32"/>
            <p:cNvSpPr txBox="1"/>
            <p:nvPr/>
          </p:nvSpPr>
          <p:spPr>
            <a:xfrm>
              <a:off x="9162376" y="2935232"/>
              <a:ext cx="2194500" cy="4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275" lIns="18275" spcFirstLastPara="1" rIns="18275" wrap="square" tIns="18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2D374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Measured gain and limitations</a:t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56" name="Element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Element 2"/>
          <p:cNvSpPr txBox="1"/>
          <p:nvPr/>
        </p:nvSpPr>
        <p:spPr>
          <a:xfrm>
            <a:off x="580000" y="1470000"/>
            <a:ext cx="75999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E6EB8"/>
                </a:solidFill>
                <a:latin typeface="Noto Sans KR"/>
                <a:ea typeface="Noto Sans KR"/>
                <a:cs typeface="Noto Sans KR"/>
                <a:sym typeface="Noto Sans KR"/>
              </a:rPr>
              <a:t>Results · matched comparisons under one protocol</a:t>
            </a:r>
            <a:endParaRPr b="1" sz="1500">
              <a:solidFill>
                <a:srgbClr val="0E6EB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8" name="Element 3"/>
          <p:cNvSpPr txBox="1"/>
          <p:nvPr/>
        </p:nvSpPr>
        <p:spPr>
          <a:xfrm>
            <a:off x="630000" y="1900000"/>
            <a:ext cx="10920000" cy="18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1750">
                <a:solidFill>
                  <a:srgbClr val="0E6EB8"/>
                </a:solidFill>
                <a:latin typeface="Noto Sans KR"/>
                <a:ea typeface="Noto Sans KR"/>
                <a:cs typeface="Noto Sans KR"/>
                <a:sym typeface="Noto Sans KR"/>
              </a:rPr>
              <a:t>Primary metric 00.0 (baseline 00.0)</a:t>
            </a:r>
            <a:r>
              <a:rPr lang="en-US" sz="1750">
                <a:solidFill>
                  <a:srgbClr val="2D3741"/>
                </a:solidFill>
                <a:latin typeface="Noto Sans KR"/>
                <a:ea typeface="Noto Sans KR"/>
                <a:cs typeface="Noto Sans KR"/>
                <a:sym typeface="Noto Sans KR"/>
              </a:rPr>
              <a:t> — report the exact comparison and uncertainty</a:t>
            </a:r>
            <a:endParaRPr sz="1750">
              <a:solidFill>
                <a:srgbClr val="2D374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1750">
                <a:solidFill>
                  <a:srgbClr val="0E6EB8"/>
                </a:solidFill>
                <a:latin typeface="Noto Sans KR"/>
                <a:ea typeface="Noto Sans KR"/>
                <a:cs typeface="Noto Sans KR"/>
                <a:sym typeface="Noto Sans KR"/>
              </a:rPr>
              <a:t>Secondary metric 00.0 (baseline 00.0)</a:t>
            </a:r>
            <a:r>
              <a:rPr lang="en-US" sz="1750">
                <a:solidFill>
                  <a:srgbClr val="2D3741"/>
                </a:solidFill>
                <a:latin typeface="Noto Sans KR"/>
                <a:ea typeface="Noto Sans KR"/>
                <a:cs typeface="Noto Sans KR"/>
                <a:sym typeface="Noto Sans KR"/>
              </a:rPr>
              <a:t> — explain what the metric represents</a:t>
            </a:r>
            <a:endParaRPr sz="1750">
              <a:solidFill>
                <a:srgbClr val="2D374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1750">
                <a:solidFill>
                  <a:srgbClr val="0E6EB8"/>
                </a:solidFill>
                <a:latin typeface="Noto Sans KR"/>
                <a:ea typeface="Noto Sans KR"/>
                <a:cs typeface="Noto Sans KR"/>
                <a:sym typeface="Noto Sans KR"/>
              </a:rPr>
              <a:t>Cost metric 00.0 (baseline 00.0)</a:t>
            </a:r>
            <a:r>
              <a:rPr lang="en-US" sz="1750">
                <a:solidFill>
                  <a:srgbClr val="2D3741"/>
                </a:solidFill>
                <a:latin typeface="Noto Sans KR"/>
                <a:ea typeface="Noto Sans KR"/>
                <a:cs typeface="Noto Sans KR"/>
                <a:sym typeface="Noto Sans KR"/>
              </a:rPr>
              <a:t> — include tokens, calls, latency, or budget</a:t>
            </a:r>
            <a:endParaRPr sz="1750">
              <a:solidFill>
                <a:srgbClr val="2D374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9" name="Element 4"/>
          <p:cNvSpPr/>
          <p:nvPr/>
        </p:nvSpPr>
        <p:spPr>
          <a:xfrm>
            <a:off x="580000" y="4020000"/>
            <a:ext cx="10850100" cy="19200"/>
          </a:xfrm>
          <a:prstGeom prst="rect">
            <a:avLst/>
          </a:prstGeom>
          <a:solidFill>
            <a:srgbClr val="D1D9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Element 5"/>
          <p:cNvSpPr txBox="1"/>
          <p:nvPr/>
        </p:nvSpPr>
        <p:spPr>
          <a:xfrm>
            <a:off x="580000" y="4220000"/>
            <a:ext cx="69999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62A626"/>
                </a:solidFill>
                <a:latin typeface="Noto Sans KR"/>
                <a:ea typeface="Noto Sans KR"/>
                <a:cs typeface="Noto Sans KR"/>
                <a:sym typeface="Noto Sans KR"/>
              </a:rPr>
              <a:t>Research outputs</a:t>
            </a:r>
            <a:endParaRPr b="1" sz="1500">
              <a:solidFill>
                <a:srgbClr val="62A62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1" name="Element 6"/>
          <p:cNvSpPr txBox="1"/>
          <p:nvPr/>
        </p:nvSpPr>
        <p:spPr>
          <a:xfrm>
            <a:off x="630000" y="4630000"/>
            <a:ext cx="10920000" cy="12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2D3741"/>
                </a:solidFill>
                <a:latin typeface="Noto Sans KR"/>
                <a:ea typeface="Noto Sans KR"/>
                <a:cs typeface="Noto Sans KR"/>
                <a:sym typeface="Noto Sans KR"/>
              </a:rPr>
              <a:t>Main experiment table</a:t>
            </a:r>
            <a:endParaRPr sz="1650">
              <a:solidFill>
                <a:srgbClr val="2D374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2D3741"/>
                </a:solidFill>
                <a:latin typeface="Noto Sans KR"/>
                <a:ea typeface="Noto Sans KR"/>
                <a:cs typeface="Noto Sans KR"/>
                <a:sym typeface="Noto Sans KR"/>
              </a:rPr>
              <a:t>Ablation and analysis</a:t>
            </a:r>
            <a:endParaRPr sz="1650">
              <a:solidFill>
                <a:srgbClr val="2D374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2D3741"/>
                </a:solidFill>
                <a:latin typeface="Noto Sans KR"/>
                <a:ea typeface="Noto Sans KR"/>
                <a:cs typeface="Noto Sans KR"/>
                <a:sym typeface="Noto Sans KR"/>
              </a:rPr>
              <a:t>Failure cases</a:t>
            </a:r>
            <a:endParaRPr b="1" sz="1650">
              <a:solidFill>
                <a:srgbClr val="2D374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KR"/>
              <a:buNone/>
            </a:pPr>
            <a:r>
              <a:rPr b="1" lang="en-US" sz="1700">
                <a:solidFill>
                  <a:srgbClr val="2D3741"/>
                </a:solidFill>
                <a:latin typeface="Noto Sans KR"/>
                <a:ea typeface="Noto Sans KR"/>
                <a:cs typeface="Noto Sans KR"/>
                <a:sym typeface="Noto Sans KR"/>
              </a:rPr>
              <a:t>Reproducible artifacts</a:t>
            </a:r>
            <a:endParaRPr b="1" sz="1650">
              <a:solidFill>
                <a:srgbClr val="2D374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2" name="Element 7"/>
          <p:cNvSpPr txBox="1"/>
          <p:nvPr/>
        </p:nvSpPr>
        <p:spPr>
          <a:xfrm>
            <a:off x="307548" y="136524"/>
            <a:ext cx="11577000" cy="96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Noto Sans KR"/>
                <a:ea typeface="Noto Sans KR"/>
                <a:cs typeface="Noto Sans KR"/>
                <a:sym typeface="Noto Sans KR"/>
              </a:rPr>
              <a:t>Evaluation summary</a:t>
            </a:r>
            <a:endParaRPr b="1" sz="3600"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363" name="Element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Element 2"/>
          <p:cNvSpPr txBox="1"/>
          <p:nvPr>
            <p:ph type="title"/>
          </p:nvPr>
        </p:nvSpPr>
        <p:spPr>
          <a:xfrm>
            <a:off x="307548" y="136524"/>
            <a:ext cx="11577000" cy="96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Noto Sans KR"/>
              <a:buNone/>
            </a:pPr>
            <a:r>
              <a:rPr b="1" lang="en-US" sz="36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Recap</a:t>
            </a:r>
            <a:endParaRPr b="1" sz="3600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65" name="Element 3"/>
          <p:cNvSpPr/>
          <p:nvPr/>
        </p:nvSpPr>
        <p:spPr>
          <a:xfrm>
            <a:off x="650000" y="1520000"/>
            <a:ext cx="10850100" cy="720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9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Element 4"/>
          <p:cNvSpPr/>
          <p:nvPr/>
        </p:nvSpPr>
        <p:spPr>
          <a:xfrm>
            <a:off x="650000" y="1520000"/>
            <a:ext cx="51900" cy="720000"/>
          </a:xfrm>
          <a:prstGeom prst="rect">
            <a:avLst/>
          </a:prstGeom>
          <a:solidFill>
            <a:srgbClr val="0E6E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Element 5"/>
          <p:cNvSpPr txBox="1"/>
          <p:nvPr/>
        </p:nvSpPr>
        <p:spPr>
          <a:xfrm>
            <a:off x="820000" y="1680000"/>
            <a:ext cx="8499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0E6EB8"/>
                </a:solidFill>
                <a:latin typeface="Noto Sans KR"/>
                <a:ea typeface="Noto Sans KR"/>
                <a:cs typeface="Noto Sans KR"/>
                <a:sym typeface="Noto Sans KR"/>
              </a:rPr>
              <a:t>Step 1</a:t>
            </a:r>
            <a:endParaRPr b="1" sz="1250">
              <a:solidFill>
                <a:srgbClr val="0E6EB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68" name="Element 6"/>
          <p:cNvSpPr txBox="1"/>
          <p:nvPr/>
        </p:nvSpPr>
        <p:spPr>
          <a:xfrm>
            <a:off x="1780000" y="1625000"/>
            <a:ext cx="39999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D3741"/>
                </a:solidFill>
                <a:latin typeface="Noto Sans KR"/>
                <a:ea typeface="Noto Sans KR"/>
                <a:cs typeface="Noto Sans KR"/>
                <a:sym typeface="Noto Sans KR"/>
              </a:rPr>
              <a:t>Problem ↔ Evidence</a:t>
            </a:r>
            <a:endParaRPr b="1" sz="2000">
              <a:solidFill>
                <a:srgbClr val="2D374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69" name="Element 7"/>
          <p:cNvSpPr txBox="1"/>
          <p:nvPr/>
        </p:nvSpPr>
        <p:spPr>
          <a:xfrm>
            <a:off x="6050000" y="1670000"/>
            <a:ext cx="51000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636E78"/>
                </a:solidFill>
                <a:latin typeface="Noto Sans KR"/>
                <a:ea typeface="Noto Sans KR"/>
                <a:cs typeface="Noto Sans KR"/>
                <a:sym typeface="Noto Sans KR"/>
              </a:rPr>
              <a:t>Establish the failure mode and evaluation unit</a:t>
            </a:r>
            <a:endParaRPr sz="1550">
              <a:solidFill>
                <a:srgbClr val="636E7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70" name="Element 8"/>
          <p:cNvSpPr/>
          <p:nvPr/>
        </p:nvSpPr>
        <p:spPr>
          <a:xfrm>
            <a:off x="650000" y="2450000"/>
            <a:ext cx="10850100" cy="720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9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Element 9"/>
          <p:cNvSpPr/>
          <p:nvPr/>
        </p:nvSpPr>
        <p:spPr>
          <a:xfrm>
            <a:off x="650000" y="2450000"/>
            <a:ext cx="51900" cy="720000"/>
          </a:xfrm>
          <a:prstGeom prst="rect">
            <a:avLst/>
          </a:prstGeom>
          <a:solidFill>
            <a:srgbClr val="733D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Element 10"/>
          <p:cNvSpPr txBox="1"/>
          <p:nvPr/>
        </p:nvSpPr>
        <p:spPr>
          <a:xfrm>
            <a:off x="820000" y="2610000"/>
            <a:ext cx="8499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733DAD"/>
                </a:solidFill>
                <a:latin typeface="Noto Sans KR"/>
                <a:ea typeface="Noto Sans KR"/>
                <a:cs typeface="Noto Sans KR"/>
                <a:sym typeface="Noto Sans KR"/>
              </a:rPr>
              <a:t>Step 2</a:t>
            </a:r>
            <a:endParaRPr b="1" sz="1250">
              <a:solidFill>
                <a:srgbClr val="733DAD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73" name="Element 11"/>
          <p:cNvSpPr txBox="1"/>
          <p:nvPr/>
        </p:nvSpPr>
        <p:spPr>
          <a:xfrm>
            <a:off x="1780000" y="2555000"/>
            <a:ext cx="39999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D3741"/>
                </a:solidFill>
                <a:latin typeface="Noto Sans KR"/>
                <a:ea typeface="Noto Sans KR"/>
                <a:cs typeface="Noto Sans KR"/>
                <a:sym typeface="Noto Sans KR"/>
              </a:rPr>
              <a:t>Method ↔ Mechanism</a:t>
            </a:r>
            <a:endParaRPr b="1" sz="2000">
              <a:solidFill>
                <a:srgbClr val="2D374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74" name="Element 12"/>
          <p:cNvSpPr txBox="1"/>
          <p:nvPr/>
        </p:nvSpPr>
        <p:spPr>
          <a:xfrm>
            <a:off x="6050000" y="2600000"/>
            <a:ext cx="51000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636E78"/>
                </a:solidFill>
                <a:latin typeface="Noto Sans KR"/>
                <a:ea typeface="Noto Sans KR"/>
                <a:cs typeface="Noto Sans KR"/>
                <a:sym typeface="Noto Sans KR"/>
              </a:rPr>
              <a:t>Explain how the method targets the failure</a:t>
            </a:r>
            <a:endParaRPr sz="1550">
              <a:solidFill>
                <a:srgbClr val="636E7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75" name="Element 13"/>
          <p:cNvSpPr/>
          <p:nvPr/>
        </p:nvSpPr>
        <p:spPr>
          <a:xfrm>
            <a:off x="650000" y="3380000"/>
            <a:ext cx="10850100" cy="720000"/>
          </a:xfrm>
          <a:prstGeom prst="rect">
            <a:avLst/>
          </a:prstGeom>
          <a:solidFill>
            <a:srgbClr val="F6FBF0"/>
          </a:solidFill>
          <a:ln cap="flat" cmpd="sng" w="12700">
            <a:solidFill>
              <a:srgbClr val="D1D9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Element 14"/>
          <p:cNvSpPr/>
          <p:nvPr/>
        </p:nvSpPr>
        <p:spPr>
          <a:xfrm>
            <a:off x="650000" y="3380000"/>
            <a:ext cx="51900" cy="720000"/>
          </a:xfrm>
          <a:prstGeom prst="rect">
            <a:avLst/>
          </a:prstGeom>
          <a:solidFill>
            <a:srgbClr val="7DBD0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Element 15"/>
          <p:cNvSpPr txBox="1"/>
          <p:nvPr/>
        </p:nvSpPr>
        <p:spPr>
          <a:xfrm>
            <a:off x="820000" y="3540000"/>
            <a:ext cx="8499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7DBD0D"/>
                </a:solidFill>
                <a:latin typeface="Noto Sans KR"/>
                <a:ea typeface="Noto Sans KR"/>
                <a:cs typeface="Noto Sans KR"/>
                <a:sym typeface="Noto Sans KR"/>
              </a:rPr>
              <a:t>Step 3</a:t>
            </a:r>
            <a:endParaRPr b="1" sz="1250">
              <a:solidFill>
                <a:srgbClr val="7DBD0D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78" name="Element 16"/>
          <p:cNvSpPr txBox="1"/>
          <p:nvPr/>
        </p:nvSpPr>
        <p:spPr>
          <a:xfrm>
            <a:off x="1780000" y="3485000"/>
            <a:ext cx="39999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D3741"/>
                </a:solidFill>
                <a:latin typeface="Noto Sans KR"/>
                <a:ea typeface="Noto Sans KR"/>
                <a:cs typeface="Noto Sans KR"/>
                <a:sym typeface="Noto Sans KR"/>
              </a:rPr>
              <a:t>Result ↔ Interpretation</a:t>
            </a:r>
            <a:endParaRPr b="1" sz="2000">
              <a:solidFill>
                <a:srgbClr val="2D374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79" name="Element 17"/>
          <p:cNvSpPr txBox="1"/>
          <p:nvPr/>
        </p:nvSpPr>
        <p:spPr>
          <a:xfrm>
            <a:off x="6050000" y="3530000"/>
            <a:ext cx="51000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636E78"/>
                </a:solidFill>
                <a:latin typeface="Noto Sans KR"/>
                <a:ea typeface="Noto Sans KR"/>
                <a:cs typeface="Noto Sans KR"/>
                <a:sym typeface="Noto Sans KR"/>
              </a:rPr>
              <a:t>Show where the method helps and where it does not</a:t>
            </a:r>
            <a:endParaRPr sz="1550">
              <a:solidFill>
                <a:srgbClr val="636E7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>
  <p:cSld>
    <p:spTree>
      <p:nvGrpSpPr>
        <p:cNvPr id="446" name="Element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Element 2"/>
          <p:cNvSpPr txBox="1"/>
          <p:nvPr>
            <p:ph type="title"/>
          </p:nvPr>
        </p:nvSpPr>
        <p:spPr>
          <a:xfrm>
            <a:off x="307548" y="136524"/>
            <a:ext cx="11577000" cy="96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KR"/>
              <a:buNone/>
            </a:pPr>
            <a:r>
              <a:rPr b="1" lang="en-US" sz="3600">
                <a:latin typeface="Noto Sans KR"/>
                <a:ea typeface="Noto Sans KR"/>
                <a:cs typeface="Noto Sans KR"/>
                <a:sym typeface="Noto Sans KR"/>
              </a:rPr>
              <a:t>Proposed research plan</a:t>
            </a:r>
            <a:endParaRPr b="1" sz="3600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48" name="Element 3"/>
          <p:cNvSpPr txBox="1"/>
          <p:nvPr/>
        </p:nvSpPr>
        <p:spPr>
          <a:xfrm>
            <a:off x="566928" y="1408176"/>
            <a:ext cx="594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04191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/>
          </a:p>
        </p:txBody>
      </p:sp>
      <p:sp>
        <p:nvSpPr>
          <p:cNvPr id="449" name="Element 4"/>
          <p:cNvSpPr txBox="1"/>
          <p:nvPr/>
        </p:nvSpPr>
        <p:spPr>
          <a:xfrm>
            <a:off x="1325880" y="1408176"/>
            <a:ext cx="2487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Problem formulation</a:t>
            </a:r>
            <a:endParaRPr/>
          </a:p>
        </p:txBody>
      </p:sp>
      <p:sp>
        <p:nvSpPr>
          <p:cNvPr id="450" name="Element 5"/>
          <p:cNvSpPr txBox="1"/>
          <p:nvPr/>
        </p:nvSpPr>
        <p:spPr>
          <a:xfrm>
            <a:off x="3840480" y="1408176"/>
            <a:ext cx="7360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D3741"/>
                </a:solidFill>
                <a:latin typeface="Noto Sans KR"/>
                <a:ea typeface="Noto Sans KR"/>
                <a:cs typeface="Noto Sans KR"/>
                <a:sym typeface="Noto Sans KR"/>
              </a:rPr>
              <a:t>Define the team, task distribution, and matched budget</a:t>
            </a:r>
            <a:endParaRPr/>
          </a:p>
        </p:txBody>
      </p:sp>
      <p:sp>
        <p:nvSpPr>
          <p:cNvPr id="451" name="Element 6"/>
          <p:cNvSpPr/>
          <p:nvPr/>
        </p:nvSpPr>
        <p:spPr>
          <a:xfrm>
            <a:off x="566928" y="2139696"/>
            <a:ext cx="10652760" cy="9144"/>
          </a:xfrm>
          <a:prstGeom prst="rect">
            <a:avLst/>
          </a:prstGeom>
          <a:solidFill>
            <a:srgbClr val="E1E6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52" name="Element 7"/>
          <p:cNvSpPr txBox="1"/>
          <p:nvPr/>
        </p:nvSpPr>
        <p:spPr>
          <a:xfrm>
            <a:off x="566928" y="2432304"/>
            <a:ext cx="594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04191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/>
          </a:p>
        </p:txBody>
      </p:sp>
      <p:sp>
        <p:nvSpPr>
          <p:cNvPr id="453" name="Element 8"/>
          <p:cNvSpPr txBox="1"/>
          <p:nvPr/>
        </p:nvSpPr>
        <p:spPr>
          <a:xfrm>
            <a:off x="1325880" y="2432304"/>
            <a:ext cx="2487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Noto Sans KR"/>
                <a:ea typeface="Noto Sans KR"/>
                <a:cs typeface="Noto Sans KR"/>
                <a:sym typeface="Noto Sans KR"/>
              </a:rPr>
              <a:t>Method</a:t>
            </a:r>
            <a:endParaRPr/>
          </a:p>
        </p:txBody>
      </p:sp>
      <p:sp>
        <p:nvSpPr>
          <p:cNvPr id="454" name="Element 9"/>
          <p:cNvSpPr txBox="1"/>
          <p:nvPr/>
        </p:nvSpPr>
        <p:spPr>
          <a:xfrm>
            <a:off x="3840480" y="2432304"/>
            <a:ext cx="7360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D3741"/>
                </a:solidFill>
                <a:latin typeface="Noto Sans KR"/>
                <a:ea typeface="Noto Sans KR"/>
                <a:cs typeface="Noto Sans KR"/>
                <a:sym typeface="Noto Sans KR"/>
              </a:rPr>
              <a:t>Generate a complementary newcomer from incumbent evidence</a:t>
            </a:r>
            <a:endParaRPr/>
          </a:p>
        </p:txBody>
      </p:sp>
      <p:sp>
        <p:nvSpPr>
          <p:cNvPr id="455" name="Element 10"/>
          <p:cNvSpPr/>
          <p:nvPr/>
        </p:nvSpPr>
        <p:spPr>
          <a:xfrm>
            <a:off x="566928" y="3163824"/>
            <a:ext cx="10652760" cy="9144"/>
          </a:xfrm>
          <a:prstGeom prst="rect">
            <a:avLst/>
          </a:prstGeom>
          <a:solidFill>
            <a:srgbClr val="E1E6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56" name="Element 11"/>
          <p:cNvSpPr txBox="1"/>
          <p:nvPr/>
        </p:nvSpPr>
        <p:spPr>
          <a:xfrm>
            <a:off x="566928" y="3456432"/>
            <a:ext cx="594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04191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endParaRPr/>
          </a:p>
        </p:txBody>
      </p:sp>
      <p:sp>
        <p:nvSpPr>
          <p:cNvPr id="457" name="Element 12"/>
          <p:cNvSpPr txBox="1"/>
          <p:nvPr/>
        </p:nvSpPr>
        <p:spPr>
          <a:xfrm>
            <a:off x="1325880" y="3456432"/>
            <a:ext cx="2487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Noto Sans KR"/>
                <a:ea typeface="Noto Sans KR"/>
                <a:cs typeface="Noto Sans KR"/>
                <a:sym typeface="Noto Sans KR"/>
              </a:rPr>
              <a:t>Evaluation</a:t>
            </a:r>
            <a:endParaRPr sz="1600"/>
          </a:p>
        </p:txBody>
      </p:sp>
      <p:sp>
        <p:nvSpPr>
          <p:cNvPr id="458" name="Element 13"/>
          <p:cNvSpPr txBox="1"/>
          <p:nvPr/>
        </p:nvSpPr>
        <p:spPr>
          <a:xfrm>
            <a:off x="3840480" y="3456432"/>
            <a:ext cx="7360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D3741"/>
                </a:solidFill>
                <a:latin typeface="Noto Sans KR"/>
                <a:ea typeface="Noto Sans KR"/>
                <a:cs typeface="Noto Sans KR"/>
                <a:sym typeface="Noto Sans KR"/>
              </a:rPr>
              <a:t>Compare against team construction and plus-one baselines</a:t>
            </a:r>
            <a:endParaRPr/>
          </a:p>
        </p:txBody>
      </p:sp>
      <p:sp>
        <p:nvSpPr>
          <p:cNvPr id="459" name="Element 14"/>
          <p:cNvSpPr/>
          <p:nvPr/>
        </p:nvSpPr>
        <p:spPr>
          <a:xfrm>
            <a:off x="566928" y="4187952"/>
            <a:ext cx="10652760" cy="9144"/>
          </a:xfrm>
          <a:prstGeom prst="rect">
            <a:avLst/>
          </a:prstGeom>
          <a:solidFill>
            <a:srgbClr val="E1E6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60" name="Element 15"/>
          <p:cNvSpPr txBox="1"/>
          <p:nvPr/>
        </p:nvSpPr>
        <p:spPr>
          <a:xfrm>
            <a:off x="566928" y="4480560"/>
            <a:ext cx="594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8EC31F"/>
                </a:solidFill>
                <a:latin typeface="Noto Sans KR"/>
                <a:ea typeface="Noto Sans KR"/>
                <a:cs typeface="Noto Sans KR"/>
                <a:sym typeface="Noto Sans KR"/>
              </a:rPr>
              <a:t>04</a:t>
            </a:r>
            <a:endParaRPr/>
          </a:p>
        </p:txBody>
      </p:sp>
      <p:sp>
        <p:nvSpPr>
          <p:cNvPr id="461" name="Element 16"/>
          <p:cNvSpPr txBox="1"/>
          <p:nvPr/>
        </p:nvSpPr>
        <p:spPr>
          <a:xfrm>
            <a:off x="1325880" y="4480560"/>
            <a:ext cx="2487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Analysis</a:t>
            </a:r>
            <a:endParaRPr/>
          </a:p>
        </p:txBody>
      </p:sp>
      <p:sp>
        <p:nvSpPr>
          <p:cNvPr id="462" name="Element 17"/>
          <p:cNvSpPr txBox="1"/>
          <p:nvPr/>
        </p:nvSpPr>
        <p:spPr>
          <a:xfrm>
            <a:off x="3840480" y="4480560"/>
            <a:ext cx="7360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D3741"/>
                </a:solidFill>
                <a:latin typeface="Noto Sans KR"/>
                <a:ea typeface="Noto Sans KR"/>
                <a:cs typeface="Noto Sans KR"/>
                <a:sym typeface="Noto Sans KR"/>
              </a:rPr>
              <a:t>Measure gains, costs, robustness, and failure cases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>
  <p:cSld>
    <p:spTree>
      <p:nvGrpSpPr>
        <p:cNvPr id="467" name="Element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Element 2"/>
          <p:cNvSpPr txBox="1"/>
          <p:nvPr>
            <p:ph type="title"/>
          </p:nvPr>
        </p:nvSpPr>
        <p:spPr>
          <a:xfrm>
            <a:off x="307548" y="136524"/>
            <a:ext cx="11577000" cy="96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KR"/>
              <a:buNone/>
            </a:pPr>
            <a:r>
              <a:rPr b="1" lang="en-US" sz="3600">
                <a:latin typeface="Noto Sans KR"/>
                <a:ea typeface="Noto Sans KR"/>
                <a:cs typeface="Noto Sans KR"/>
                <a:sym typeface="Noto Sans KR"/>
              </a:rPr>
              <a:t>Evidence and outputs</a:t>
            </a:r>
            <a:endParaRPr b="1" sz="3600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69" name="Element 3"/>
          <p:cNvSpPr txBox="1"/>
          <p:nvPr/>
        </p:nvSpPr>
        <p:spPr>
          <a:xfrm>
            <a:off x="733925" y="1557756"/>
            <a:ext cx="4050000" cy="8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latin typeface="Noto Sans KR"/>
                <a:ea typeface="Noto Sans KR"/>
                <a:cs typeface="Noto Sans KR"/>
                <a:sym typeface="Noto Sans KR"/>
              </a:rPr>
              <a:t>(Artifact) Reproducible implementation</a:t>
            </a:r>
            <a:endParaRPr b="1" sz="135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70" name="Element 4"/>
          <p:cNvSpPr txBox="1"/>
          <p:nvPr/>
        </p:nvSpPr>
        <p:spPr>
          <a:xfrm>
            <a:off x="4822550" y="1598416"/>
            <a:ext cx="7360800" cy="8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2D3741"/>
                </a:solidFill>
                <a:latin typeface="Noto Sans KR"/>
                <a:ea typeface="Noto Sans KR"/>
                <a:cs typeface="Noto Sans KR"/>
                <a:sym typeface="Noto Sans KR"/>
              </a:rPr>
              <a:t>A versioned implementation with configuration, prompts, and evaluation contracts.</a:t>
            </a:r>
            <a:r>
              <a:rPr b="1" lang="en-US" sz="1250">
                <a:solidFill>
                  <a:srgbClr val="2D3741"/>
                </a:solidFill>
                <a:latin typeface="Noto Sans KR"/>
                <a:ea typeface="Noto Sans KR"/>
                <a:cs typeface="Noto Sans KR"/>
                <a:sym typeface="Noto Sans KR"/>
              </a:rPr>
              <a:t>Connect every reported number to a retained source run.</a:t>
            </a:r>
            <a:endParaRPr b="1" sz="1250">
              <a:solidFill>
                <a:srgbClr val="2D374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71" name="Element 5"/>
          <p:cNvSpPr/>
          <p:nvPr/>
        </p:nvSpPr>
        <p:spPr>
          <a:xfrm>
            <a:off x="566928" y="2661017"/>
            <a:ext cx="10652700" cy="9000"/>
          </a:xfrm>
          <a:prstGeom prst="rect">
            <a:avLst/>
          </a:prstGeom>
          <a:solidFill>
            <a:srgbClr val="E1E6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72" name="Element 6"/>
          <p:cNvSpPr txBox="1"/>
          <p:nvPr/>
        </p:nvSpPr>
        <p:spPr>
          <a:xfrm>
            <a:off x="219303" y="1733951"/>
            <a:ext cx="5943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04191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/>
          </a:p>
        </p:txBody>
      </p:sp>
      <p:sp>
        <p:nvSpPr>
          <p:cNvPr id="473" name="Element 7"/>
          <p:cNvSpPr txBox="1"/>
          <p:nvPr/>
        </p:nvSpPr>
        <p:spPr>
          <a:xfrm>
            <a:off x="733922" y="2872141"/>
            <a:ext cx="405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latin typeface="Noto Sans KR"/>
                <a:ea typeface="Noto Sans KR"/>
                <a:cs typeface="Noto Sans KR"/>
                <a:sym typeface="Noto Sans KR"/>
              </a:rPr>
              <a:t>(Paper) Main methodology paper</a:t>
            </a:r>
            <a:endParaRPr b="1" sz="135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latin typeface="Noto Sans KR"/>
                <a:ea typeface="Noto Sans KR"/>
                <a:cs typeface="Noto Sans KR"/>
                <a:sym typeface="Noto Sans KR"/>
              </a:rPr>
              <a:t>/ Target venue</a:t>
            </a:r>
            <a:endParaRPr b="1" sz="135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74" name="Element 8"/>
          <p:cNvSpPr txBox="1"/>
          <p:nvPr/>
        </p:nvSpPr>
        <p:spPr>
          <a:xfrm>
            <a:off x="4822550" y="2872141"/>
            <a:ext cx="73608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2D3741"/>
                </a:solidFill>
                <a:latin typeface="Noto Sans KR"/>
                <a:ea typeface="Noto Sans KR"/>
                <a:cs typeface="Noto Sans KR"/>
                <a:sym typeface="Noto Sans KR"/>
              </a:rPr>
              <a:t>Define the problem, method, and matched evaluation protocol.</a:t>
            </a:r>
            <a:r>
              <a:rPr b="1" lang="en-US" sz="1250">
                <a:solidFill>
                  <a:srgbClr val="2D3741"/>
                </a:solidFill>
                <a:latin typeface="Noto Sans KR"/>
                <a:ea typeface="Noto Sans KR"/>
                <a:cs typeface="Noto Sans KR"/>
                <a:sym typeface="Noto Sans KR"/>
              </a:rPr>
              <a:t>Report main results with uncertainty and honest limitations.</a:t>
            </a:r>
            <a:endParaRPr b="1" sz="1250">
              <a:solidFill>
                <a:srgbClr val="2D374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75" name="Element 9"/>
          <p:cNvSpPr txBox="1"/>
          <p:nvPr/>
        </p:nvSpPr>
        <p:spPr>
          <a:xfrm>
            <a:off x="219303" y="2872158"/>
            <a:ext cx="5943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04191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/>
          </a:p>
        </p:txBody>
      </p:sp>
      <p:sp>
        <p:nvSpPr>
          <p:cNvPr id="476" name="Element 10"/>
          <p:cNvSpPr/>
          <p:nvPr/>
        </p:nvSpPr>
        <p:spPr>
          <a:xfrm>
            <a:off x="566928" y="4016631"/>
            <a:ext cx="10652700" cy="9000"/>
          </a:xfrm>
          <a:prstGeom prst="rect">
            <a:avLst/>
          </a:prstGeom>
          <a:solidFill>
            <a:srgbClr val="E1E6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77" name="Element 11"/>
          <p:cNvSpPr txBox="1"/>
          <p:nvPr/>
        </p:nvSpPr>
        <p:spPr>
          <a:xfrm>
            <a:off x="219303" y="4233530"/>
            <a:ext cx="5943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04191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endParaRPr/>
          </a:p>
        </p:txBody>
      </p:sp>
      <p:sp>
        <p:nvSpPr>
          <p:cNvPr id="478" name="Element 12"/>
          <p:cNvSpPr txBox="1"/>
          <p:nvPr/>
        </p:nvSpPr>
        <p:spPr>
          <a:xfrm>
            <a:off x="219303" y="5594910"/>
            <a:ext cx="5943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8EC31F"/>
                </a:solidFill>
                <a:latin typeface="Noto Sans KR"/>
                <a:ea typeface="Noto Sans KR"/>
                <a:cs typeface="Noto Sans KR"/>
                <a:sym typeface="Noto Sans KR"/>
              </a:rPr>
              <a:t>04</a:t>
            </a:r>
            <a:endParaRPr/>
          </a:p>
        </p:txBody>
      </p:sp>
      <p:sp>
        <p:nvSpPr>
          <p:cNvPr id="479" name="Element 13"/>
          <p:cNvSpPr txBox="1"/>
          <p:nvPr/>
        </p:nvSpPr>
        <p:spPr>
          <a:xfrm>
            <a:off x="733922" y="4227741"/>
            <a:ext cx="405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latin typeface="Noto Sans KR"/>
                <a:ea typeface="Noto Sans KR"/>
                <a:cs typeface="Noto Sans KR"/>
                <a:sym typeface="Noto Sans KR"/>
              </a:rPr>
              <a:t>(Analysis) Robustness and failure modes</a:t>
            </a:r>
            <a:endParaRPr b="1" sz="135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latin typeface="Noto Sans KR"/>
                <a:ea typeface="Noto Sans KR"/>
                <a:cs typeface="Noto Sans KR"/>
                <a:sym typeface="Noto Sans KR"/>
              </a:rPr>
              <a:t>/ Appendix</a:t>
            </a:r>
            <a:endParaRPr b="1" sz="135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80" name="Element 14"/>
          <p:cNvSpPr txBox="1"/>
          <p:nvPr/>
        </p:nvSpPr>
        <p:spPr>
          <a:xfrm>
            <a:off x="4822550" y="4227741"/>
            <a:ext cx="73608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2D3741"/>
                </a:solidFill>
                <a:latin typeface="Noto Sans KR"/>
                <a:ea typeface="Noto Sans KR"/>
                <a:cs typeface="Noto Sans KR"/>
                <a:sym typeface="Noto Sans KR"/>
              </a:rPr>
              <a:t>Test sensitivity to team size, budget, model, and task category.</a:t>
            </a:r>
            <a:r>
              <a:rPr b="1" lang="en-US" sz="1250">
                <a:solidFill>
                  <a:srgbClr val="2D3741"/>
                </a:solidFill>
                <a:latin typeface="Noto Sans KR"/>
                <a:ea typeface="Noto Sans KR"/>
                <a:cs typeface="Noto Sans KR"/>
                <a:sym typeface="Noto Sans KR"/>
              </a:rPr>
              <a:t>Explain systematic regressions instead of treating them as noise.</a:t>
            </a:r>
            <a:endParaRPr b="1" sz="1250">
              <a:solidFill>
                <a:srgbClr val="2D374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81" name="Element 15"/>
          <p:cNvSpPr/>
          <p:nvPr/>
        </p:nvSpPr>
        <p:spPr>
          <a:xfrm>
            <a:off x="566928" y="5372231"/>
            <a:ext cx="10652700" cy="9000"/>
          </a:xfrm>
          <a:prstGeom prst="rect">
            <a:avLst/>
          </a:prstGeom>
          <a:solidFill>
            <a:srgbClr val="E1E6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82" name="Element 16"/>
          <p:cNvSpPr txBox="1"/>
          <p:nvPr/>
        </p:nvSpPr>
        <p:spPr>
          <a:xfrm>
            <a:off x="733922" y="5583341"/>
            <a:ext cx="40500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latin typeface="Noto Sans KR"/>
                <a:ea typeface="Noto Sans KR"/>
                <a:cs typeface="Noto Sans KR"/>
                <a:sym typeface="Noto Sans KR"/>
              </a:rPr>
              <a:t>(Release) Research artifact</a:t>
            </a:r>
            <a:endParaRPr b="1" sz="135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latin typeface="Noto Sans KR"/>
                <a:ea typeface="Noto Sans KR"/>
                <a:cs typeface="Noto Sans KR"/>
                <a:sym typeface="Noto Sans KR"/>
              </a:rPr>
              <a:t>/ Repository</a:t>
            </a:r>
            <a:endParaRPr b="1" sz="135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83" name="Element 17"/>
          <p:cNvSpPr txBox="1"/>
          <p:nvPr/>
        </p:nvSpPr>
        <p:spPr>
          <a:xfrm>
            <a:off x="4822550" y="5583341"/>
            <a:ext cx="73608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2D3741"/>
                </a:solidFill>
                <a:latin typeface="Noto Sans KR"/>
                <a:ea typeface="Noto Sans KR"/>
                <a:cs typeface="Noto Sans KR"/>
                <a:sym typeface="Noto Sans KR"/>
              </a:rPr>
              <a:t>Provide commands, provenance, environment definitions, and raw results.</a:t>
            </a:r>
            <a:r>
              <a:rPr b="1" lang="en-US" sz="1250">
                <a:solidFill>
                  <a:srgbClr val="2D3741"/>
                </a:solidFill>
                <a:latin typeface="Noto Sans KR"/>
                <a:ea typeface="Noto Sans KR"/>
                <a:cs typeface="Noto Sans KR"/>
                <a:sym typeface="Noto Sans KR"/>
              </a:rPr>
              <a:t>Separate public assets from private or licensed source material.</a:t>
            </a:r>
            <a:endParaRPr b="1" sz="1250">
              <a:solidFill>
                <a:srgbClr val="2D374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IT_JC169">
  <a:themeElements>
    <a:clrScheme name="Office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KR"/>
        <a:ea typeface="Noto Sans KR"/>
        <a:cs typeface="Noto Sans KR"/>
        <a:font script="Jpan" typeface="Noto Sans KR"/>
        <a:font script="Hang" typeface="Noto Sans KR"/>
        <a:font script="Hans" typeface="Noto Sans KR"/>
        <a:font script="Hant" typeface="Noto Sans KR"/>
        <a:font script="Arab" typeface="Noto Sans KR"/>
        <a:font script="Hebr" typeface="Noto Sans KR"/>
        <a:font script="Thai" typeface="Noto Sans KR"/>
        <a:font script="Ethi" typeface="Noto Sans KR"/>
        <a:font script="Beng" typeface="Noto Sans KR"/>
        <a:font script="Gujr" typeface="Noto Sans KR"/>
        <a:font script="Khmr" typeface="Noto Sans KR"/>
        <a:font script="Knda" typeface="Noto Sans KR"/>
        <a:font script="Guru" typeface="Noto Sans KR"/>
        <a:font script="Cans" typeface="Noto Sans KR"/>
        <a:font script="Cher" typeface="Noto Sans KR"/>
        <a:font script="Yiii" typeface="Noto Sans KR"/>
        <a:font script="Tibt" typeface="Noto Sans KR"/>
        <a:font script="Thaa" typeface="Noto Sans KR"/>
        <a:font script="Deva" typeface="Noto Sans KR"/>
        <a:font script="Telu" typeface="Noto Sans KR"/>
        <a:font script="Taml" typeface="Noto Sans KR"/>
        <a:font script="Syrc" typeface="Noto Sans KR"/>
        <a:font script="Orya" typeface="Noto Sans KR"/>
        <a:font script="Mlym" typeface="Noto Sans KR"/>
        <a:font script="Laoo" typeface="Noto Sans KR"/>
        <a:font script="Sinh" typeface="Noto Sans KR"/>
        <a:font script="Mong" typeface="Noto Sans KR"/>
        <a:font script="Viet" typeface="Noto Sans KR"/>
        <a:font script="Uigh" typeface="Noto Sans KR"/>
        <a:font script="Geor" typeface="Noto Sans KR"/>
      </a:majorFont>
      <a:minorFont>
        <a:latin typeface="Noto Sans KR"/>
        <a:ea typeface="Noto Sans KR"/>
        <a:cs typeface="Noto Sans KR"/>
        <a:font script="Jpan" typeface="Noto Sans KR"/>
        <a:font script="Hang" typeface="Noto Sans KR"/>
        <a:font script="Hans" typeface="Noto Sans KR"/>
        <a:font script="Hant" typeface="Noto Sans KR"/>
        <a:font script="Arab" typeface="Noto Sans KR"/>
        <a:font script="Hebr" typeface="Noto Sans KR"/>
        <a:font script="Thai" typeface="Noto Sans KR"/>
        <a:font script="Ethi" typeface="Noto Sans KR"/>
        <a:font script="Beng" typeface="Noto Sans KR"/>
        <a:font script="Gujr" typeface="Noto Sans KR"/>
        <a:font script="Khmr" typeface="Noto Sans KR"/>
        <a:font script="Knda" typeface="Noto Sans KR"/>
        <a:font script="Guru" typeface="Noto Sans KR"/>
        <a:font script="Cans" typeface="Noto Sans KR"/>
        <a:font script="Cher" typeface="Noto Sans KR"/>
        <a:font script="Yiii" typeface="Noto Sans KR"/>
        <a:font script="Tibt" typeface="Noto Sans KR"/>
        <a:font script="Thaa" typeface="Noto Sans KR"/>
        <a:font script="Deva" typeface="Noto Sans KR"/>
        <a:font script="Telu" typeface="Noto Sans KR"/>
        <a:font script="Taml" typeface="Noto Sans KR"/>
        <a:font script="Syrc" typeface="Noto Sans KR"/>
        <a:font script="Orya" typeface="Noto Sans KR"/>
        <a:font script="Mlym" typeface="Noto Sans KR"/>
        <a:font script="Laoo" typeface="Noto Sans KR"/>
        <a:font script="Sinh" typeface="Noto Sans KR"/>
        <a:font script="Mong" typeface="Noto Sans KR"/>
        <a:font script="Viet" typeface="Noto Sans KR"/>
        <a:font script="Uigh" typeface="Noto Sans KR"/>
        <a:font script="Geor" typeface="Noto Sans K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Noto Sans KR"/>
        <a:ea typeface="Noto Sans KR"/>
        <a:cs typeface="Noto Sans KR"/>
        <a:font script="Jpan" typeface="Noto Sans KR"/>
        <a:font script="Hang" typeface="Noto Sans KR"/>
        <a:font script="Hans" typeface="Noto Sans KR"/>
        <a:font script="Hant" typeface="Noto Sans KR"/>
        <a:font script="Arab" typeface="Noto Sans KR"/>
        <a:font script="Hebr" typeface="Noto Sans KR"/>
        <a:font script="Thai" typeface="Noto Sans KR"/>
        <a:font script="Ethi" typeface="Noto Sans KR"/>
        <a:font script="Beng" typeface="Noto Sans KR"/>
        <a:font script="Gujr" typeface="Noto Sans KR"/>
        <a:font script="Khmr" typeface="Noto Sans KR"/>
        <a:font script="Knda" typeface="Noto Sans KR"/>
        <a:font script="Guru" typeface="Noto Sans KR"/>
        <a:font script="Cans" typeface="Noto Sans KR"/>
        <a:font script="Cher" typeface="Noto Sans KR"/>
        <a:font script="Yiii" typeface="Noto Sans KR"/>
        <a:font script="Tibt" typeface="Noto Sans KR"/>
        <a:font script="Thaa" typeface="Noto Sans KR"/>
        <a:font script="Deva" typeface="Noto Sans KR"/>
        <a:font script="Telu" typeface="Noto Sans KR"/>
        <a:font script="Taml" typeface="Noto Sans KR"/>
        <a:font script="Syrc" typeface="Noto Sans KR"/>
        <a:font script="Orya" typeface="Noto Sans KR"/>
        <a:font script="Mlym" typeface="Noto Sans KR"/>
        <a:font script="Laoo" typeface="Noto Sans KR"/>
        <a:font script="Sinh" typeface="Noto Sans KR"/>
        <a:font script="Mong" typeface="Noto Sans KR"/>
        <a:font script="Viet" typeface="Noto Sans KR"/>
        <a:font script="Uigh" typeface="Noto Sans KR"/>
        <a:font script="Geor" typeface="Noto Sans KR"/>
      </a:majorFont>
      <a:minorFont>
        <a:latin typeface="Noto Sans KR"/>
        <a:ea typeface="Noto Sans KR"/>
        <a:cs typeface="Noto Sans KR"/>
        <a:font script="Jpan" typeface="Noto Sans KR"/>
        <a:font script="Hang" typeface="Noto Sans KR"/>
        <a:font script="Hans" typeface="Noto Sans KR"/>
        <a:font script="Hant" typeface="Noto Sans KR"/>
        <a:font script="Arab" typeface="Noto Sans KR"/>
        <a:font script="Hebr" typeface="Noto Sans KR"/>
        <a:font script="Thai" typeface="Noto Sans KR"/>
        <a:font script="Ethi" typeface="Noto Sans KR"/>
        <a:font script="Beng" typeface="Noto Sans KR"/>
        <a:font script="Gujr" typeface="Noto Sans KR"/>
        <a:font script="Khmr" typeface="Noto Sans KR"/>
        <a:font script="Knda" typeface="Noto Sans KR"/>
        <a:font script="Guru" typeface="Noto Sans KR"/>
        <a:font script="Cans" typeface="Noto Sans KR"/>
        <a:font script="Cher" typeface="Noto Sans KR"/>
        <a:font script="Yiii" typeface="Noto Sans KR"/>
        <a:font script="Tibt" typeface="Noto Sans KR"/>
        <a:font script="Thaa" typeface="Noto Sans KR"/>
        <a:font script="Deva" typeface="Noto Sans KR"/>
        <a:font script="Telu" typeface="Noto Sans KR"/>
        <a:font script="Taml" typeface="Noto Sans KR"/>
        <a:font script="Syrc" typeface="Noto Sans KR"/>
        <a:font script="Orya" typeface="Noto Sans KR"/>
        <a:font script="Mlym" typeface="Noto Sans KR"/>
        <a:font script="Laoo" typeface="Noto Sans KR"/>
        <a:font script="Sinh" typeface="Noto Sans KR"/>
        <a:font script="Mong" typeface="Noto Sans KR"/>
        <a:font script="Viet" typeface="Noto Sans KR"/>
        <a:font script="Uigh" typeface="Noto Sans KR"/>
        <a:font script="Geor" typeface="Noto Sans K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